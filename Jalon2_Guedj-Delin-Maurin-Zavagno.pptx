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63" r:id="rId8"/>
    <p:sldId id="259" r:id="rId9"/>
    <p:sldId id="264" r:id="rId10"/>
    <p:sldId id="265" r:id="rId11"/>
    <p:sldId id="260" r:id="rId12"/>
    <p:sldId id="267" r:id="rId13"/>
    <p:sldId id="269" r:id="rId14"/>
    <p:sldId id="270" r:id="rId15"/>
    <p:sldId id="261" r:id="rId16"/>
    <p:sldId id="266" r:id="rId17"/>
    <p:sldId id="262" r:id="rId1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B1C924-96B1-9408-8EF3-AAB26C6D619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AB896CF5-3B9B-ED61-6DD1-A7D3D45716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E7AB440C-57DE-6C06-B3A2-C703D632E64B}"/>
              </a:ext>
            </a:extLst>
          </p:cNvPr>
          <p:cNvSpPr>
            <a:spLocks noGrp="1"/>
          </p:cNvSpPr>
          <p:nvPr>
            <p:ph type="dt" sz="half" idx="10"/>
          </p:nvPr>
        </p:nvSpPr>
        <p:spPr/>
        <p:txBody>
          <a:bodyPr/>
          <a:lstStyle/>
          <a:p>
            <a:fld id="{B681D3F5-B188-4C95-832F-6412061B3FEE}" type="datetimeFigureOut">
              <a:rPr lang="fr-FR" smtClean="0"/>
              <a:t>24/04/2026</a:t>
            </a:fld>
            <a:endParaRPr lang="fr-FR"/>
          </a:p>
        </p:txBody>
      </p:sp>
      <p:sp>
        <p:nvSpPr>
          <p:cNvPr id="5" name="Espace réservé du pied de page 4">
            <a:extLst>
              <a:ext uri="{FF2B5EF4-FFF2-40B4-BE49-F238E27FC236}">
                <a16:creationId xmlns:a16="http://schemas.microsoft.com/office/drawing/2014/main" id="{216A7389-ACE0-BD28-CE1D-A1155482F36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424B59D-04E8-5A1F-5398-56987170B150}"/>
              </a:ext>
            </a:extLst>
          </p:cNvPr>
          <p:cNvSpPr>
            <a:spLocks noGrp="1"/>
          </p:cNvSpPr>
          <p:nvPr>
            <p:ph type="sldNum" sz="quarter" idx="12"/>
          </p:nvPr>
        </p:nvSpPr>
        <p:spPr/>
        <p:txBody>
          <a:bodyPr/>
          <a:lstStyle/>
          <a:p>
            <a:fld id="{4A9C55C7-CC37-478E-98D8-89E380E2A2B0}" type="slidenum">
              <a:rPr lang="fr-FR" smtClean="0"/>
              <a:t>‹N°›</a:t>
            </a:fld>
            <a:endParaRPr lang="fr-FR"/>
          </a:p>
        </p:txBody>
      </p:sp>
    </p:spTree>
    <p:extLst>
      <p:ext uri="{BB962C8B-B14F-4D97-AF65-F5344CB8AC3E}">
        <p14:creationId xmlns:p14="http://schemas.microsoft.com/office/powerpoint/2010/main" val="1168046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1B8262-D83B-F044-B8C2-8601C9D6F55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AA4C37F-A35C-9277-85AD-E578B31C745B}"/>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3934C56-D5AD-82DE-90AD-35ED5D5BC2E0}"/>
              </a:ext>
            </a:extLst>
          </p:cNvPr>
          <p:cNvSpPr>
            <a:spLocks noGrp="1"/>
          </p:cNvSpPr>
          <p:nvPr>
            <p:ph type="dt" sz="half" idx="10"/>
          </p:nvPr>
        </p:nvSpPr>
        <p:spPr/>
        <p:txBody>
          <a:bodyPr/>
          <a:lstStyle/>
          <a:p>
            <a:fld id="{B681D3F5-B188-4C95-832F-6412061B3FEE}" type="datetimeFigureOut">
              <a:rPr lang="fr-FR" smtClean="0"/>
              <a:t>24/04/2026</a:t>
            </a:fld>
            <a:endParaRPr lang="fr-FR"/>
          </a:p>
        </p:txBody>
      </p:sp>
      <p:sp>
        <p:nvSpPr>
          <p:cNvPr id="5" name="Espace réservé du pied de page 4">
            <a:extLst>
              <a:ext uri="{FF2B5EF4-FFF2-40B4-BE49-F238E27FC236}">
                <a16:creationId xmlns:a16="http://schemas.microsoft.com/office/drawing/2014/main" id="{49831C0F-A584-3B36-EE00-34190F2D7D1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CDA36FB-F7C6-8FDD-F4AD-812056FF268D}"/>
              </a:ext>
            </a:extLst>
          </p:cNvPr>
          <p:cNvSpPr>
            <a:spLocks noGrp="1"/>
          </p:cNvSpPr>
          <p:nvPr>
            <p:ph type="sldNum" sz="quarter" idx="12"/>
          </p:nvPr>
        </p:nvSpPr>
        <p:spPr/>
        <p:txBody>
          <a:bodyPr/>
          <a:lstStyle/>
          <a:p>
            <a:fld id="{4A9C55C7-CC37-478E-98D8-89E380E2A2B0}" type="slidenum">
              <a:rPr lang="fr-FR" smtClean="0"/>
              <a:t>‹N°›</a:t>
            </a:fld>
            <a:endParaRPr lang="fr-FR"/>
          </a:p>
        </p:txBody>
      </p:sp>
    </p:spTree>
    <p:extLst>
      <p:ext uri="{BB962C8B-B14F-4D97-AF65-F5344CB8AC3E}">
        <p14:creationId xmlns:p14="http://schemas.microsoft.com/office/powerpoint/2010/main" val="83867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B20E92-D792-ABFD-4839-E5EAAF60925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A0D661FF-4ECF-846F-DA60-6149A5C52A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10AA44D9-C0E5-035E-57AE-21D5AF273A1B}"/>
              </a:ext>
            </a:extLst>
          </p:cNvPr>
          <p:cNvSpPr>
            <a:spLocks noGrp="1"/>
          </p:cNvSpPr>
          <p:nvPr>
            <p:ph type="dt" sz="half" idx="10"/>
          </p:nvPr>
        </p:nvSpPr>
        <p:spPr/>
        <p:txBody>
          <a:bodyPr/>
          <a:lstStyle/>
          <a:p>
            <a:fld id="{B681D3F5-B188-4C95-832F-6412061B3FEE}" type="datetimeFigureOut">
              <a:rPr lang="fr-FR" smtClean="0"/>
              <a:t>24/04/2026</a:t>
            </a:fld>
            <a:endParaRPr lang="fr-FR"/>
          </a:p>
        </p:txBody>
      </p:sp>
      <p:sp>
        <p:nvSpPr>
          <p:cNvPr id="5" name="Espace réservé du pied de page 4">
            <a:extLst>
              <a:ext uri="{FF2B5EF4-FFF2-40B4-BE49-F238E27FC236}">
                <a16:creationId xmlns:a16="http://schemas.microsoft.com/office/drawing/2014/main" id="{D4261F05-958E-BB30-4D68-E333492628D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A83FA02-85A4-A9D8-C6E8-757D099A4447}"/>
              </a:ext>
            </a:extLst>
          </p:cNvPr>
          <p:cNvSpPr>
            <a:spLocks noGrp="1"/>
          </p:cNvSpPr>
          <p:nvPr>
            <p:ph type="sldNum" sz="quarter" idx="12"/>
          </p:nvPr>
        </p:nvSpPr>
        <p:spPr/>
        <p:txBody>
          <a:bodyPr/>
          <a:lstStyle/>
          <a:p>
            <a:fld id="{4A9C55C7-CC37-478E-98D8-89E380E2A2B0}" type="slidenum">
              <a:rPr lang="fr-FR" smtClean="0"/>
              <a:t>‹N°›</a:t>
            </a:fld>
            <a:endParaRPr lang="fr-FR"/>
          </a:p>
        </p:txBody>
      </p:sp>
    </p:spTree>
    <p:extLst>
      <p:ext uri="{BB962C8B-B14F-4D97-AF65-F5344CB8AC3E}">
        <p14:creationId xmlns:p14="http://schemas.microsoft.com/office/powerpoint/2010/main" val="671988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4155E-9DF4-069C-8D41-C9668F48DE3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186CE38-275F-B523-6ABE-0082D950B484}"/>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DF2AAC26-1F9E-7C29-2AA8-DBE424F07413}"/>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46153E80-6B5A-B6D3-949C-8B2EDAB4F229}"/>
              </a:ext>
            </a:extLst>
          </p:cNvPr>
          <p:cNvSpPr>
            <a:spLocks noGrp="1"/>
          </p:cNvSpPr>
          <p:nvPr>
            <p:ph type="dt" sz="half" idx="10"/>
          </p:nvPr>
        </p:nvSpPr>
        <p:spPr/>
        <p:txBody>
          <a:bodyPr/>
          <a:lstStyle/>
          <a:p>
            <a:fld id="{B681D3F5-B188-4C95-832F-6412061B3FEE}" type="datetimeFigureOut">
              <a:rPr lang="fr-FR" smtClean="0"/>
              <a:t>24/04/2026</a:t>
            </a:fld>
            <a:endParaRPr lang="fr-FR"/>
          </a:p>
        </p:txBody>
      </p:sp>
      <p:sp>
        <p:nvSpPr>
          <p:cNvPr id="6" name="Espace réservé du pied de page 5">
            <a:extLst>
              <a:ext uri="{FF2B5EF4-FFF2-40B4-BE49-F238E27FC236}">
                <a16:creationId xmlns:a16="http://schemas.microsoft.com/office/drawing/2014/main" id="{01F10194-C80B-6F9A-3704-9DBB27FC868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CEFDB7E-9502-2608-39C1-026D985C90A1}"/>
              </a:ext>
            </a:extLst>
          </p:cNvPr>
          <p:cNvSpPr>
            <a:spLocks noGrp="1"/>
          </p:cNvSpPr>
          <p:nvPr>
            <p:ph type="sldNum" sz="quarter" idx="12"/>
          </p:nvPr>
        </p:nvSpPr>
        <p:spPr/>
        <p:txBody>
          <a:bodyPr/>
          <a:lstStyle/>
          <a:p>
            <a:fld id="{4A9C55C7-CC37-478E-98D8-89E380E2A2B0}" type="slidenum">
              <a:rPr lang="fr-FR" smtClean="0"/>
              <a:t>‹N°›</a:t>
            </a:fld>
            <a:endParaRPr lang="fr-FR"/>
          </a:p>
        </p:txBody>
      </p:sp>
    </p:spTree>
    <p:extLst>
      <p:ext uri="{BB962C8B-B14F-4D97-AF65-F5344CB8AC3E}">
        <p14:creationId xmlns:p14="http://schemas.microsoft.com/office/powerpoint/2010/main" val="3153369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C6B8B7-5428-C156-E3BD-CF96CF9D31FD}"/>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0253DF64-0998-34B6-909F-08A2F5C756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BB5F8DB-65CA-9C90-5343-1F9135977585}"/>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B9BF578B-E5E3-6B6A-3B53-5333C76934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38D01120-E8A5-B930-1805-132E1BE1C993}"/>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0DBA6AA8-5494-A37D-BC2E-6A8E6817FAB8}"/>
              </a:ext>
            </a:extLst>
          </p:cNvPr>
          <p:cNvSpPr>
            <a:spLocks noGrp="1"/>
          </p:cNvSpPr>
          <p:nvPr>
            <p:ph type="dt" sz="half" idx="10"/>
          </p:nvPr>
        </p:nvSpPr>
        <p:spPr/>
        <p:txBody>
          <a:bodyPr/>
          <a:lstStyle/>
          <a:p>
            <a:fld id="{B681D3F5-B188-4C95-832F-6412061B3FEE}" type="datetimeFigureOut">
              <a:rPr lang="fr-FR" smtClean="0"/>
              <a:t>24/04/2026</a:t>
            </a:fld>
            <a:endParaRPr lang="fr-FR"/>
          </a:p>
        </p:txBody>
      </p:sp>
      <p:sp>
        <p:nvSpPr>
          <p:cNvPr id="8" name="Espace réservé du pied de page 7">
            <a:extLst>
              <a:ext uri="{FF2B5EF4-FFF2-40B4-BE49-F238E27FC236}">
                <a16:creationId xmlns:a16="http://schemas.microsoft.com/office/drawing/2014/main" id="{7D161C73-B674-3B04-00BB-C31C4C40B1FF}"/>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C43A365-2E41-37BF-7AC2-94900559FCE2}"/>
              </a:ext>
            </a:extLst>
          </p:cNvPr>
          <p:cNvSpPr>
            <a:spLocks noGrp="1"/>
          </p:cNvSpPr>
          <p:nvPr>
            <p:ph type="sldNum" sz="quarter" idx="12"/>
          </p:nvPr>
        </p:nvSpPr>
        <p:spPr/>
        <p:txBody>
          <a:bodyPr/>
          <a:lstStyle/>
          <a:p>
            <a:fld id="{4A9C55C7-CC37-478E-98D8-89E380E2A2B0}" type="slidenum">
              <a:rPr lang="fr-FR" smtClean="0"/>
              <a:t>‹N°›</a:t>
            </a:fld>
            <a:endParaRPr lang="fr-FR"/>
          </a:p>
        </p:txBody>
      </p:sp>
    </p:spTree>
    <p:extLst>
      <p:ext uri="{BB962C8B-B14F-4D97-AF65-F5344CB8AC3E}">
        <p14:creationId xmlns:p14="http://schemas.microsoft.com/office/powerpoint/2010/main" val="2591676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7C4408-C2C8-925A-EF5A-8ACDBF04435B}"/>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D0EF1F0B-A63B-E79A-264E-B7A52BDE0EBD}"/>
              </a:ext>
            </a:extLst>
          </p:cNvPr>
          <p:cNvSpPr>
            <a:spLocks noGrp="1"/>
          </p:cNvSpPr>
          <p:nvPr>
            <p:ph type="dt" sz="half" idx="10"/>
          </p:nvPr>
        </p:nvSpPr>
        <p:spPr/>
        <p:txBody>
          <a:bodyPr/>
          <a:lstStyle/>
          <a:p>
            <a:fld id="{B681D3F5-B188-4C95-832F-6412061B3FEE}" type="datetimeFigureOut">
              <a:rPr lang="fr-FR" smtClean="0"/>
              <a:t>24/04/2026</a:t>
            </a:fld>
            <a:endParaRPr lang="fr-FR"/>
          </a:p>
        </p:txBody>
      </p:sp>
      <p:sp>
        <p:nvSpPr>
          <p:cNvPr id="4" name="Espace réservé du pied de page 3">
            <a:extLst>
              <a:ext uri="{FF2B5EF4-FFF2-40B4-BE49-F238E27FC236}">
                <a16:creationId xmlns:a16="http://schemas.microsoft.com/office/drawing/2014/main" id="{D3B50231-4404-398A-B89B-1EAC26975C9C}"/>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A3163E67-181F-70CD-3E48-194F237C51BE}"/>
              </a:ext>
            </a:extLst>
          </p:cNvPr>
          <p:cNvSpPr>
            <a:spLocks noGrp="1"/>
          </p:cNvSpPr>
          <p:nvPr>
            <p:ph type="sldNum" sz="quarter" idx="12"/>
          </p:nvPr>
        </p:nvSpPr>
        <p:spPr/>
        <p:txBody>
          <a:bodyPr/>
          <a:lstStyle/>
          <a:p>
            <a:fld id="{4A9C55C7-CC37-478E-98D8-89E380E2A2B0}" type="slidenum">
              <a:rPr lang="fr-FR" smtClean="0"/>
              <a:t>‹N°›</a:t>
            </a:fld>
            <a:endParaRPr lang="fr-FR"/>
          </a:p>
        </p:txBody>
      </p:sp>
    </p:spTree>
    <p:extLst>
      <p:ext uri="{BB962C8B-B14F-4D97-AF65-F5344CB8AC3E}">
        <p14:creationId xmlns:p14="http://schemas.microsoft.com/office/powerpoint/2010/main" val="288948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2B03DB4-45C5-3AEE-6A41-862AA29384D9}"/>
              </a:ext>
            </a:extLst>
          </p:cNvPr>
          <p:cNvSpPr>
            <a:spLocks noGrp="1"/>
          </p:cNvSpPr>
          <p:nvPr>
            <p:ph type="dt" sz="half" idx="10"/>
          </p:nvPr>
        </p:nvSpPr>
        <p:spPr/>
        <p:txBody>
          <a:bodyPr/>
          <a:lstStyle/>
          <a:p>
            <a:fld id="{B681D3F5-B188-4C95-832F-6412061B3FEE}" type="datetimeFigureOut">
              <a:rPr lang="fr-FR" smtClean="0"/>
              <a:t>24/04/2026</a:t>
            </a:fld>
            <a:endParaRPr lang="fr-FR"/>
          </a:p>
        </p:txBody>
      </p:sp>
      <p:sp>
        <p:nvSpPr>
          <p:cNvPr id="3" name="Espace réservé du pied de page 2">
            <a:extLst>
              <a:ext uri="{FF2B5EF4-FFF2-40B4-BE49-F238E27FC236}">
                <a16:creationId xmlns:a16="http://schemas.microsoft.com/office/drawing/2014/main" id="{180FB498-033A-37E9-0814-89BC831DC40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E12DA888-D643-3403-A969-EDEBFE052CFB}"/>
              </a:ext>
            </a:extLst>
          </p:cNvPr>
          <p:cNvSpPr>
            <a:spLocks noGrp="1"/>
          </p:cNvSpPr>
          <p:nvPr>
            <p:ph type="sldNum" sz="quarter" idx="12"/>
          </p:nvPr>
        </p:nvSpPr>
        <p:spPr/>
        <p:txBody>
          <a:bodyPr/>
          <a:lstStyle/>
          <a:p>
            <a:fld id="{4A9C55C7-CC37-478E-98D8-89E380E2A2B0}" type="slidenum">
              <a:rPr lang="fr-FR" smtClean="0"/>
              <a:t>‹N°›</a:t>
            </a:fld>
            <a:endParaRPr lang="fr-FR"/>
          </a:p>
        </p:txBody>
      </p:sp>
    </p:spTree>
    <p:extLst>
      <p:ext uri="{BB962C8B-B14F-4D97-AF65-F5344CB8AC3E}">
        <p14:creationId xmlns:p14="http://schemas.microsoft.com/office/powerpoint/2010/main" val="1560261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114B57-277F-E1E7-A051-28534A8B89B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9CA4890E-571D-748C-7330-89B1D80647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9C0C8ABA-3CB7-BC5F-A083-56CB16E2BA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D9584EC-0CF1-AEB0-DD6B-9DD972EB2201}"/>
              </a:ext>
            </a:extLst>
          </p:cNvPr>
          <p:cNvSpPr>
            <a:spLocks noGrp="1"/>
          </p:cNvSpPr>
          <p:nvPr>
            <p:ph type="dt" sz="half" idx="10"/>
          </p:nvPr>
        </p:nvSpPr>
        <p:spPr/>
        <p:txBody>
          <a:bodyPr/>
          <a:lstStyle/>
          <a:p>
            <a:fld id="{B681D3F5-B188-4C95-832F-6412061B3FEE}" type="datetimeFigureOut">
              <a:rPr lang="fr-FR" smtClean="0"/>
              <a:t>24/04/2026</a:t>
            </a:fld>
            <a:endParaRPr lang="fr-FR"/>
          </a:p>
        </p:txBody>
      </p:sp>
      <p:sp>
        <p:nvSpPr>
          <p:cNvPr id="6" name="Espace réservé du pied de page 5">
            <a:extLst>
              <a:ext uri="{FF2B5EF4-FFF2-40B4-BE49-F238E27FC236}">
                <a16:creationId xmlns:a16="http://schemas.microsoft.com/office/drawing/2014/main" id="{B926670A-24F8-35BD-68A9-53BB34D51DB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27092AA-4D03-DA1E-3A11-AF54019A1CBA}"/>
              </a:ext>
            </a:extLst>
          </p:cNvPr>
          <p:cNvSpPr>
            <a:spLocks noGrp="1"/>
          </p:cNvSpPr>
          <p:nvPr>
            <p:ph type="sldNum" sz="quarter" idx="12"/>
          </p:nvPr>
        </p:nvSpPr>
        <p:spPr/>
        <p:txBody>
          <a:bodyPr/>
          <a:lstStyle/>
          <a:p>
            <a:fld id="{4A9C55C7-CC37-478E-98D8-89E380E2A2B0}" type="slidenum">
              <a:rPr lang="fr-FR" smtClean="0"/>
              <a:t>‹N°›</a:t>
            </a:fld>
            <a:endParaRPr lang="fr-FR"/>
          </a:p>
        </p:txBody>
      </p:sp>
    </p:spTree>
    <p:extLst>
      <p:ext uri="{BB962C8B-B14F-4D97-AF65-F5344CB8AC3E}">
        <p14:creationId xmlns:p14="http://schemas.microsoft.com/office/powerpoint/2010/main" val="37766115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E5792E-4BD6-C73C-F3A6-92519856548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C73F534-0083-4447-6FBC-BFEAB85D4F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79571657-6B83-5A17-200D-180768DF3B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837250C-B738-9A97-E4BF-9354BB58687F}"/>
              </a:ext>
            </a:extLst>
          </p:cNvPr>
          <p:cNvSpPr>
            <a:spLocks noGrp="1"/>
          </p:cNvSpPr>
          <p:nvPr>
            <p:ph type="dt" sz="half" idx="10"/>
          </p:nvPr>
        </p:nvSpPr>
        <p:spPr/>
        <p:txBody>
          <a:bodyPr/>
          <a:lstStyle/>
          <a:p>
            <a:fld id="{B681D3F5-B188-4C95-832F-6412061B3FEE}" type="datetimeFigureOut">
              <a:rPr lang="fr-FR" smtClean="0"/>
              <a:t>24/04/2026</a:t>
            </a:fld>
            <a:endParaRPr lang="fr-FR"/>
          </a:p>
        </p:txBody>
      </p:sp>
      <p:sp>
        <p:nvSpPr>
          <p:cNvPr id="6" name="Espace réservé du pied de page 5">
            <a:extLst>
              <a:ext uri="{FF2B5EF4-FFF2-40B4-BE49-F238E27FC236}">
                <a16:creationId xmlns:a16="http://schemas.microsoft.com/office/drawing/2014/main" id="{6C72F543-BF42-E234-E99B-5559354A1CE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1676FBE-F7EC-6B4A-0D28-0EAA045BA450}"/>
              </a:ext>
            </a:extLst>
          </p:cNvPr>
          <p:cNvSpPr>
            <a:spLocks noGrp="1"/>
          </p:cNvSpPr>
          <p:nvPr>
            <p:ph type="sldNum" sz="quarter" idx="12"/>
          </p:nvPr>
        </p:nvSpPr>
        <p:spPr/>
        <p:txBody>
          <a:bodyPr/>
          <a:lstStyle/>
          <a:p>
            <a:fld id="{4A9C55C7-CC37-478E-98D8-89E380E2A2B0}" type="slidenum">
              <a:rPr lang="fr-FR" smtClean="0"/>
              <a:t>‹N°›</a:t>
            </a:fld>
            <a:endParaRPr lang="fr-FR"/>
          </a:p>
        </p:txBody>
      </p:sp>
    </p:spTree>
    <p:extLst>
      <p:ext uri="{BB962C8B-B14F-4D97-AF65-F5344CB8AC3E}">
        <p14:creationId xmlns:p14="http://schemas.microsoft.com/office/powerpoint/2010/main" val="4192699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56623C-6565-0248-B87C-D35D0556833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17B89280-C828-A752-3838-6FB68F902F7A}"/>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FC4E9F0-FC84-79C0-AAF0-A3BDCC27BC05}"/>
              </a:ext>
            </a:extLst>
          </p:cNvPr>
          <p:cNvSpPr>
            <a:spLocks noGrp="1"/>
          </p:cNvSpPr>
          <p:nvPr>
            <p:ph type="dt" sz="half" idx="10"/>
          </p:nvPr>
        </p:nvSpPr>
        <p:spPr/>
        <p:txBody>
          <a:bodyPr/>
          <a:lstStyle/>
          <a:p>
            <a:fld id="{B681D3F5-B188-4C95-832F-6412061B3FEE}" type="datetimeFigureOut">
              <a:rPr lang="fr-FR" smtClean="0"/>
              <a:t>24/04/2026</a:t>
            </a:fld>
            <a:endParaRPr lang="fr-FR"/>
          </a:p>
        </p:txBody>
      </p:sp>
      <p:sp>
        <p:nvSpPr>
          <p:cNvPr id="5" name="Espace réservé du pied de page 4">
            <a:extLst>
              <a:ext uri="{FF2B5EF4-FFF2-40B4-BE49-F238E27FC236}">
                <a16:creationId xmlns:a16="http://schemas.microsoft.com/office/drawing/2014/main" id="{8A989E12-CA0B-3822-C60F-4DEA4C0ECB2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29996E9-35E8-CA80-BFA2-FFFC60E0A6F4}"/>
              </a:ext>
            </a:extLst>
          </p:cNvPr>
          <p:cNvSpPr>
            <a:spLocks noGrp="1"/>
          </p:cNvSpPr>
          <p:nvPr>
            <p:ph type="sldNum" sz="quarter" idx="12"/>
          </p:nvPr>
        </p:nvSpPr>
        <p:spPr/>
        <p:txBody>
          <a:bodyPr/>
          <a:lstStyle/>
          <a:p>
            <a:fld id="{4A9C55C7-CC37-478E-98D8-89E380E2A2B0}" type="slidenum">
              <a:rPr lang="fr-FR" smtClean="0"/>
              <a:t>‹N°›</a:t>
            </a:fld>
            <a:endParaRPr lang="fr-FR"/>
          </a:p>
        </p:txBody>
      </p:sp>
    </p:spTree>
    <p:extLst>
      <p:ext uri="{BB962C8B-B14F-4D97-AF65-F5344CB8AC3E}">
        <p14:creationId xmlns:p14="http://schemas.microsoft.com/office/powerpoint/2010/main" val="518736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186C64CE-CE0D-39B3-9E2E-C4A5DAC2FA61}"/>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0D28622E-8517-31F9-481B-277560A8E4D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39AA5D2-0E99-C861-64A5-EE10B1E8EC50}"/>
              </a:ext>
            </a:extLst>
          </p:cNvPr>
          <p:cNvSpPr>
            <a:spLocks noGrp="1"/>
          </p:cNvSpPr>
          <p:nvPr>
            <p:ph type="dt" sz="half" idx="10"/>
          </p:nvPr>
        </p:nvSpPr>
        <p:spPr/>
        <p:txBody>
          <a:bodyPr/>
          <a:lstStyle/>
          <a:p>
            <a:fld id="{B681D3F5-B188-4C95-832F-6412061B3FEE}" type="datetimeFigureOut">
              <a:rPr lang="fr-FR" smtClean="0"/>
              <a:t>24/04/2026</a:t>
            </a:fld>
            <a:endParaRPr lang="fr-FR"/>
          </a:p>
        </p:txBody>
      </p:sp>
      <p:sp>
        <p:nvSpPr>
          <p:cNvPr id="5" name="Espace réservé du pied de page 4">
            <a:extLst>
              <a:ext uri="{FF2B5EF4-FFF2-40B4-BE49-F238E27FC236}">
                <a16:creationId xmlns:a16="http://schemas.microsoft.com/office/drawing/2014/main" id="{447A521B-DB92-A005-335E-A01473E1615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2A8ACC5-B86E-9C1C-0C0B-591CFCCD7F55}"/>
              </a:ext>
            </a:extLst>
          </p:cNvPr>
          <p:cNvSpPr>
            <a:spLocks noGrp="1"/>
          </p:cNvSpPr>
          <p:nvPr>
            <p:ph type="sldNum" sz="quarter" idx="12"/>
          </p:nvPr>
        </p:nvSpPr>
        <p:spPr/>
        <p:txBody>
          <a:bodyPr/>
          <a:lstStyle/>
          <a:p>
            <a:fld id="{4A9C55C7-CC37-478E-98D8-89E380E2A2B0}" type="slidenum">
              <a:rPr lang="fr-FR" smtClean="0"/>
              <a:t>‹N°›</a:t>
            </a:fld>
            <a:endParaRPr lang="fr-FR"/>
          </a:p>
        </p:txBody>
      </p:sp>
    </p:spTree>
    <p:extLst>
      <p:ext uri="{BB962C8B-B14F-4D97-AF65-F5344CB8AC3E}">
        <p14:creationId xmlns:p14="http://schemas.microsoft.com/office/powerpoint/2010/main" val="200903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40D5BBB-71F1-3D40-93C6-7C0D5BD24A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918D0D5E-2FB8-A0BC-C46F-2403F80C4B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5CBEB28-60D3-7453-F368-5725BC4116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81D3F5-B188-4C95-832F-6412061B3FEE}" type="datetimeFigureOut">
              <a:rPr lang="fr-FR" smtClean="0"/>
              <a:t>24/04/2026</a:t>
            </a:fld>
            <a:endParaRPr lang="fr-FR"/>
          </a:p>
        </p:txBody>
      </p:sp>
      <p:sp>
        <p:nvSpPr>
          <p:cNvPr id="5" name="Espace réservé du pied de page 4">
            <a:extLst>
              <a:ext uri="{FF2B5EF4-FFF2-40B4-BE49-F238E27FC236}">
                <a16:creationId xmlns:a16="http://schemas.microsoft.com/office/drawing/2014/main" id="{639C48D6-1FA1-3B2E-9129-F28C3F3FB2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605577BA-CED8-3B15-42BB-417CF72A13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9C55C7-CC37-478E-98D8-89E380E2A2B0}" type="slidenum">
              <a:rPr lang="fr-FR" smtClean="0"/>
              <a:t>‹N°›</a:t>
            </a:fld>
            <a:endParaRPr lang="fr-FR"/>
          </a:p>
        </p:txBody>
      </p:sp>
    </p:spTree>
    <p:extLst>
      <p:ext uri="{BB962C8B-B14F-4D97-AF65-F5344CB8AC3E}">
        <p14:creationId xmlns:p14="http://schemas.microsoft.com/office/powerpoint/2010/main" val="8915479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5A82"/>
        </a:solidFill>
        <a:effectLst/>
      </p:bgPr>
    </p:bg>
    <p:spTree>
      <p:nvGrpSpPr>
        <p:cNvPr id="1" name=""/>
        <p:cNvGrpSpPr/>
        <p:nvPr/>
      </p:nvGrpSpPr>
      <p:grpSpPr>
        <a:xfrm>
          <a:off x="0" y="0"/>
          <a:ext cx="0" cy="0"/>
          <a:chOff x="0" y="0"/>
          <a:chExt cx="0" cy="0"/>
        </a:xfrm>
      </p:grpSpPr>
      <p:sp>
        <p:nvSpPr>
          <p:cNvPr id="10" name="AccentBar"/>
          <p:cNvSpPr>
            <a:spLocks noGrp="1"/>
          </p:cNvSpPr>
          <p:nvPr/>
        </p:nvSpPr>
        <p:spPr>
          <a:xfrm>
            <a:off x="457200" y="1828800"/>
            <a:ext cx="152400" cy="914400"/>
          </a:xfrm>
          <a:prstGeom prst="rect">
            <a:avLst/>
          </a:prstGeom>
          <a:solidFill>
            <a:srgbClr val="02C39A"/>
          </a:solidFill>
          <a:ln>
            <a:noFill/>
          </a:ln>
        </p:spPr>
        <p:txBody>
          <a:bodyPr/>
          <a:lstStyle/>
          <a:p>
            <a:endParaRPr/>
          </a:p>
        </p:txBody>
      </p:sp>
      <p:sp>
        <p:nvSpPr>
          <p:cNvPr id="2" name="Titre"/>
          <p:cNvSpPr>
            <a:spLocks noGrp="1"/>
          </p:cNvSpPr>
          <p:nvPr/>
        </p:nvSpPr>
        <p:spPr>
          <a:xfrm>
            <a:off x="685800" y="1676400"/>
            <a:ext cx="8229600" cy="1219200"/>
          </a:xfrm>
          <a:prstGeom prst="rect">
            <a:avLst/>
          </a:prstGeom>
          <a:noFill/>
          <a:ln>
            <a:noFill/>
          </a:ln>
        </p:spPr>
        <p:txBody>
          <a:bodyPr anchor="ctr"/>
          <a:lstStyle/>
          <a:p>
            <a:r>
              <a:rPr lang="fr-FR" sz="5400" b="1" dirty="0">
                <a:solidFill>
                  <a:srgbClr val="FFFFFF"/>
                </a:solidFill>
                <a:latin typeface="Trebuchet MS"/>
              </a:rPr>
              <a:t>Jalon 2</a:t>
            </a:r>
          </a:p>
        </p:txBody>
      </p:sp>
      <p:sp>
        <p:nvSpPr>
          <p:cNvPr id="3" name="Sous-titre"/>
          <p:cNvSpPr>
            <a:spLocks noGrp="1"/>
          </p:cNvSpPr>
          <p:nvPr/>
        </p:nvSpPr>
        <p:spPr>
          <a:xfrm>
            <a:off x="685800" y="2971800"/>
            <a:ext cx="8229600" cy="609600"/>
          </a:xfrm>
          <a:prstGeom prst="rect">
            <a:avLst/>
          </a:prstGeom>
          <a:noFill/>
          <a:ln>
            <a:noFill/>
          </a:ln>
        </p:spPr>
        <p:txBody>
          <a:bodyPr anchor="t"/>
          <a:lstStyle/>
          <a:p>
            <a:r>
              <a:rPr lang="fr-FR" sz="1600" dirty="0">
                <a:solidFill>
                  <a:srgbClr val="CADCFC"/>
                </a:solidFill>
                <a:latin typeface="Trebuchet MS"/>
              </a:rPr>
              <a:t>Delin Mattéo · Sharon Guedj · Antoine Maurin · Quentin Zavagno</a:t>
            </a:r>
          </a:p>
        </p:txBody>
      </p:sp>
      <p:sp>
        <p:nvSpPr>
          <p:cNvPr id="11" name="BottomTag"/>
          <p:cNvSpPr>
            <a:spLocks noGrp="1"/>
          </p:cNvSpPr>
          <p:nvPr/>
        </p:nvSpPr>
        <p:spPr>
          <a:xfrm>
            <a:off x="0" y="6248400"/>
            <a:ext cx="9144000" cy="343800"/>
          </a:xfrm>
          <a:prstGeom prst="rect">
            <a:avLst/>
          </a:prstGeom>
          <a:solidFill>
            <a:srgbClr val="02C39A"/>
          </a:solidFill>
          <a:ln>
            <a:noFill/>
          </a:ln>
        </p:spPr>
        <p:txBody>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HeaderBar"/>
          <p:cNvSpPr>
            <a:spLocks noGrp="1"/>
          </p:cNvSpPr>
          <p:nvPr/>
        </p:nvSpPr>
        <p:spPr>
          <a:xfrm>
            <a:off x="0" y="0"/>
            <a:ext cx="9144000" cy="762000"/>
          </a:xfrm>
          <a:prstGeom prst="rect">
            <a:avLst/>
          </a:prstGeom>
          <a:solidFill>
            <a:srgbClr val="065A82"/>
          </a:solidFill>
          <a:ln>
            <a:noFill/>
          </a:ln>
        </p:spPr>
        <p:txBody>
          <a:bodyPr/>
          <a:lstStyle/>
          <a:p>
            <a:endParaRPr/>
          </a:p>
        </p:txBody>
      </p:sp>
      <p:sp>
        <p:nvSpPr>
          <p:cNvPr id="2" name="Titre"/>
          <p:cNvSpPr>
            <a:spLocks noGrp="1"/>
          </p:cNvSpPr>
          <p:nvPr/>
        </p:nvSpPr>
        <p:spPr>
          <a:xfrm>
            <a:off x="457200" y="0"/>
            <a:ext cx="8229600" cy="762000"/>
          </a:xfrm>
          <a:prstGeom prst="rect">
            <a:avLst/>
          </a:prstGeom>
          <a:noFill/>
          <a:ln>
            <a:noFill/>
          </a:ln>
        </p:spPr>
        <p:txBody>
          <a:bodyPr anchor="ctr"/>
          <a:lstStyle/>
          <a:p>
            <a:r>
              <a:rPr lang="fr-FR" sz="2800" b="1" dirty="0">
                <a:solidFill>
                  <a:srgbClr val="FFFFFF"/>
                </a:solidFill>
                <a:latin typeface="Trebuchet MS"/>
              </a:rPr>
              <a:t>Organisation du groupe</a:t>
            </a:r>
          </a:p>
        </p:txBody>
      </p:sp>
      <p:sp>
        <p:nvSpPr>
          <p:cNvPr id="20" name="CardM"/>
          <p:cNvSpPr>
            <a:spLocks noGrp="1"/>
          </p:cNvSpPr>
          <p:nvPr/>
        </p:nvSpPr>
        <p:spPr>
          <a:xfrm>
            <a:off x="457200" y="1066800"/>
            <a:ext cx="3886200" cy="1143000"/>
          </a:xfrm>
          <a:prstGeom prst="roundRect">
            <a:avLst>
              <a:gd name="adj" fmla="val 20000"/>
            </a:avLst>
          </a:prstGeom>
          <a:solidFill>
            <a:srgbClr val="E8F4F8"/>
          </a:solidFill>
          <a:ln w="19050">
            <a:solidFill>
              <a:srgbClr val="02C39A"/>
            </a:solidFill>
          </a:ln>
        </p:spPr>
        <p:txBody>
          <a:bodyPr lIns="228600" rIns="228600" anchor="ctr"/>
          <a:lstStyle/>
          <a:p>
            <a:r>
              <a:rPr lang="fr-FR" sz="1800" b="1" dirty="0">
                <a:solidFill>
                  <a:srgbClr val="065A82"/>
                </a:solidFill>
                <a:latin typeface="Trebuchet MS"/>
              </a:rPr>
              <a:t>Mattéo</a:t>
            </a:r>
          </a:p>
          <a:p>
            <a:r>
              <a:rPr lang="fr-FR" sz="1400" dirty="0">
                <a:solidFill>
                  <a:srgbClr val="333333"/>
                </a:solidFill>
                <a:latin typeface="Trebuchet MS"/>
              </a:rPr>
              <a:t>Transformation PDI</a:t>
            </a:r>
          </a:p>
        </p:txBody>
      </p:sp>
      <p:sp>
        <p:nvSpPr>
          <p:cNvPr id="21" name="CardS"/>
          <p:cNvSpPr>
            <a:spLocks noGrp="1"/>
          </p:cNvSpPr>
          <p:nvPr/>
        </p:nvSpPr>
        <p:spPr>
          <a:xfrm>
            <a:off x="4800600" y="1066800"/>
            <a:ext cx="3886200" cy="1143000"/>
          </a:xfrm>
          <a:prstGeom prst="roundRect">
            <a:avLst>
              <a:gd name="adj" fmla="val 20000"/>
            </a:avLst>
          </a:prstGeom>
          <a:solidFill>
            <a:srgbClr val="E8F4F8"/>
          </a:solidFill>
          <a:ln w="19050">
            <a:solidFill>
              <a:srgbClr val="02C39A"/>
            </a:solidFill>
          </a:ln>
        </p:spPr>
        <p:txBody>
          <a:bodyPr lIns="228600" rIns="228600" anchor="ctr"/>
          <a:lstStyle/>
          <a:p>
            <a:r>
              <a:rPr lang="fr-FR" sz="1800" b="1" dirty="0">
                <a:solidFill>
                  <a:srgbClr val="065A82"/>
                </a:solidFill>
                <a:latin typeface="Trebuchet MS"/>
              </a:rPr>
              <a:t>Sharon</a:t>
            </a:r>
          </a:p>
          <a:p>
            <a:r>
              <a:rPr lang="fr-FR" sz="1400" dirty="0">
                <a:solidFill>
                  <a:srgbClr val="333333"/>
                </a:solidFill>
                <a:latin typeface="Trebuchet MS"/>
              </a:rPr>
              <a:t>Rapport et documentation</a:t>
            </a:r>
          </a:p>
        </p:txBody>
      </p:sp>
      <p:sp>
        <p:nvSpPr>
          <p:cNvPr id="22" name="CardA"/>
          <p:cNvSpPr>
            <a:spLocks noGrp="1"/>
          </p:cNvSpPr>
          <p:nvPr/>
        </p:nvSpPr>
        <p:spPr>
          <a:xfrm>
            <a:off x="457200" y="2438400"/>
            <a:ext cx="3886200" cy="1143000"/>
          </a:xfrm>
          <a:prstGeom prst="roundRect">
            <a:avLst>
              <a:gd name="adj" fmla="val 20000"/>
            </a:avLst>
          </a:prstGeom>
          <a:solidFill>
            <a:srgbClr val="E8F4F8"/>
          </a:solidFill>
          <a:ln w="19050">
            <a:solidFill>
              <a:srgbClr val="02C39A"/>
            </a:solidFill>
          </a:ln>
        </p:spPr>
        <p:txBody>
          <a:bodyPr lIns="228600" rIns="228600" anchor="ctr"/>
          <a:lstStyle/>
          <a:p>
            <a:r>
              <a:rPr lang="fr-FR" sz="1800" b="1" dirty="0">
                <a:solidFill>
                  <a:srgbClr val="065A82"/>
                </a:solidFill>
                <a:latin typeface="Trebuchet MS"/>
              </a:rPr>
              <a:t>Antoine</a:t>
            </a:r>
          </a:p>
          <a:p>
            <a:r>
              <a:rPr lang="fr-FR" sz="1400" dirty="0">
                <a:solidFill>
                  <a:srgbClr val="333333"/>
                </a:solidFill>
                <a:latin typeface="Trebuchet MS"/>
              </a:rPr>
              <a:t>Conception et gestion de la base de données</a:t>
            </a:r>
          </a:p>
        </p:txBody>
      </p:sp>
      <p:sp>
        <p:nvSpPr>
          <p:cNvPr id="23" name="CardQ"/>
          <p:cNvSpPr>
            <a:spLocks noGrp="1"/>
          </p:cNvSpPr>
          <p:nvPr/>
        </p:nvSpPr>
        <p:spPr>
          <a:xfrm>
            <a:off x="4800600" y="2438400"/>
            <a:ext cx="3886200" cy="1143000"/>
          </a:xfrm>
          <a:prstGeom prst="roundRect">
            <a:avLst>
              <a:gd name="adj" fmla="val 20000"/>
            </a:avLst>
          </a:prstGeom>
          <a:solidFill>
            <a:srgbClr val="E8F4F8"/>
          </a:solidFill>
          <a:ln w="19050">
            <a:solidFill>
              <a:srgbClr val="02C39A"/>
            </a:solidFill>
          </a:ln>
        </p:spPr>
        <p:txBody>
          <a:bodyPr lIns="228600" rIns="228600" anchor="ctr"/>
          <a:lstStyle/>
          <a:p>
            <a:r>
              <a:rPr lang="fr-FR" sz="1800" b="1" dirty="0">
                <a:solidFill>
                  <a:srgbClr val="065A82"/>
                </a:solidFill>
                <a:latin typeface="Trebuchet MS"/>
              </a:rPr>
              <a:t>Quentin</a:t>
            </a:r>
          </a:p>
          <a:p>
            <a:r>
              <a:rPr lang="fr-FR" sz="1400" dirty="0">
                <a:solidFill>
                  <a:srgbClr val="333333"/>
                </a:solidFill>
                <a:latin typeface="Trebuchet MS"/>
              </a:rPr>
              <a:t>Mise en place de l’application Power BI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HeaderBar"/>
          <p:cNvSpPr>
            <a:spLocks noGrp="1"/>
          </p:cNvSpPr>
          <p:nvPr/>
        </p:nvSpPr>
        <p:spPr>
          <a:xfrm>
            <a:off x="0" y="0"/>
            <a:ext cx="9144000" cy="762000"/>
          </a:xfrm>
          <a:prstGeom prst="rect">
            <a:avLst/>
          </a:prstGeom>
          <a:solidFill>
            <a:srgbClr val="065A82"/>
          </a:solidFill>
          <a:ln>
            <a:noFill/>
          </a:ln>
        </p:spPr>
        <p:txBody>
          <a:bodyPr/>
          <a:lstStyle/>
          <a:p>
            <a:endParaRPr/>
          </a:p>
        </p:txBody>
      </p:sp>
      <p:sp>
        <p:nvSpPr>
          <p:cNvPr id="2" name="Titre"/>
          <p:cNvSpPr>
            <a:spLocks noGrp="1"/>
          </p:cNvSpPr>
          <p:nvPr/>
        </p:nvSpPr>
        <p:spPr>
          <a:xfrm>
            <a:off x="457200" y="0"/>
            <a:ext cx="8229600" cy="762000"/>
          </a:xfrm>
          <a:prstGeom prst="rect">
            <a:avLst/>
          </a:prstGeom>
          <a:noFill/>
          <a:ln>
            <a:noFill/>
          </a:ln>
        </p:spPr>
        <p:txBody>
          <a:bodyPr anchor="ctr"/>
          <a:lstStyle/>
          <a:p>
            <a:r>
              <a:rPr lang="fr-FR" sz="2800" b="1" dirty="0">
                <a:solidFill>
                  <a:srgbClr val="FFFFFF"/>
                </a:solidFill>
                <a:latin typeface="Trebuchet MS"/>
              </a:rPr>
              <a:t>Enjeux métiers</a:t>
            </a:r>
          </a:p>
        </p:txBody>
      </p:sp>
      <p:sp>
        <p:nvSpPr>
          <p:cNvPr id="30" name="Dot1"/>
          <p:cNvSpPr>
            <a:spLocks noGrp="1"/>
          </p:cNvSpPr>
          <p:nvPr/>
        </p:nvSpPr>
        <p:spPr>
          <a:xfrm>
            <a:off x="457200" y="914400"/>
            <a:ext cx="228600" cy="228600"/>
          </a:xfrm>
          <a:prstGeom prst="ellipse">
            <a:avLst/>
          </a:prstGeom>
          <a:solidFill>
            <a:srgbClr val="02C39A"/>
          </a:solidFill>
          <a:ln>
            <a:noFill/>
          </a:ln>
        </p:spPr>
        <p:txBody>
          <a:bodyPr/>
          <a:lstStyle/>
          <a:p>
            <a:endParaRPr/>
          </a:p>
        </p:txBody>
      </p:sp>
      <p:sp>
        <p:nvSpPr>
          <p:cNvPr id="31" name="Text1"/>
          <p:cNvSpPr>
            <a:spLocks noGrp="1"/>
          </p:cNvSpPr>
          <p:nvPr/>
        </p:nvSpPr>
        <p:spPr>
          <a:xfrm>
            <a:off x="762000" y="876300"/>
            <a:ext cx="8000400" cy="304800"/>
          </a:xfrm>
          <a:prstGeom prst="rect">
            <a:avLst/>
          </a:prstGeom>
          <a:noFill/>
          <a:ln>
            <a:noFill/>
          </a:ln>
        </p:spPr>
        <p:txBody>
          <a:bodyPr anchor="ctr"/>
          <a:lstStyle/>
          <a:p>
            <a:r>
              <a:rPr lang="fr-FR" sz="1400" dirty="0">
                <a:solidFill>
                  <a:srgbClr val="222222"/>
                </a:solidFill>
                <a:latin typeface="Trebuchet MS"/>
              </a:rPr>
              <a:t>Identifier les zones géographiques présentant un indice de saturation élevé.</a:t>
            </a:r>
          </a:p>
        </p:txBody>
      </p:sp>
      <p:sp>
        <p:nvSpPr>
          <p:cNvPr id="32" name="Dot2"/>
          <p:cNvSpPr>
            <a:spLocks noGrp="1"/>
          </p:cNvSpPr>
          <p:nvPr/>
        </p:nvSpPr>
        <p:spPr>
          <a:xfrm>
            <a:off x="457200" y="1371600"/>
            <a:ext cx="228600" cy="228600"/>
          </a:xfrm>
          <a:prstGeom prst="ellipse">
            <a:avLst/>
          </a:prstGeom>
          <a:solidFill>
            <a:srgbClr val="02C39A"/>
          </a:solidFill>
          <a:ln>
            <a:noFill/>
          </a:ln>
        </p:spPr>
        <p:txBody>
          <a:bodyPr/>
          <a:lstStyle/>
          <a:p>
            <a:endParaRPr/>
          </a:p>
        </p:txBody>
      </p:sp>
      <p:sp>
        <p:nvSpPr>
          <p:cNvPr id="33" name="Text2"/>
          <p:cNvSpPr>
            <a:spLocks noGrp="1"/>
          </p:cNvSpPr>
          <p:nvPr/>
        </p:nvSpPr>
        <p:spPr>
          <a:xfrm>
            <a:off x="762000" y="1333500"/>
            <a:ext cx="8000400" cy="304800"/>
          </a:xfrm>
          <a:prstGeom prst="rect">
            <a:avLst/>
          </a:prstGeom>
          <a:noFill/>
          <a:ln>
            <a:noFill/>
          </a:ln>
        </p:spPr>
        <p:txBody>
          <a:bodyPr anchor="ctr"/>
          <a:lstStyle/>
          <a:p>
            <a:r>
              <a:rPr lang="fr-FR" sz="1400" dirty="0">
                <a:solidFill>
                  <a:srgbClr val="222222"/>
                </a:solidFill>
                <a:latin typeface="Trebuchet MS"/>
              </a:rPr>
              <a:t>Déterminer les zones de tension où l’offre est insuffisante face à la demande croissante.</a:t>
            </a:r>
          </a:p>
        </p:txBody>
      </p:sp>
      <p:sp>
        <p:nvSpPr>
          <p:cNvPr id="34" name="Dot3"/>
          <p:cNvSpPr>
            <a:spLocks noGrp="1"/>
          </p:cNvSpPr>
          <p:nvPr/>
        </p:nvSpPr>
        <p:spPr>
          <a:xfrm>
            <a:off x="457200" y="1828800"/>
            <a:ext cx="228600" cy="228600"/>
          </a:xfrm>
          <a:prstGeom prst="ellipse">
            <a:avLst/>
          </a:prstGeom>
          <a:solidFill>
            <a:srgbClr val="02C39A"/>
          </a:solidFill>
          <a:ln>
            <a:noFill/>
          </a:ln>
        </p:spPr>
        <p:txBody>
          <a:bodyPr/>
          <a:lstStyle/>
          <a:p>
            <a:endParaRPr/>
          </a:p>
        </p:txBody>
      </p:sp>
      <p:sp>
        <p:nvSpPr>
          <p:cNvPr id="35" name="Text3"/>
          <p:cNvSpPr>
            <a:spLocks noGrp="1"/>
          </p:cNvSpPr>
          <p:nvPr/>
        </p:nvSpPr>
        <p:spPr>
          <a:xfrm>
            <a:off x="762000" y="1790700"/>
            <a:ext cx="8000400" cy="304800"/>
          </a:xfrm>
          <a:prstGeom prst="rect">
            <a:avLst/>
          </a:prstGeom>
          <a:noFill/>
          <a:ln>
            <a:noFill/>
          </a:ln>
        </p:spPr>
        <p:txBody>
          <a:bodyPr anchor="ctr"/>
          <a:lstStyle/>
          <a:p>
            <a:r>
              <a:rPr lang="fr-FR" sz="1400" dirty="0">
                <a:solidFill>
                  <a:srgbClr val="222222"/>
                </a:solidFill>
                <a:latin typeface="Trebuchet MS"/>
              </a:rPr>
              <a:t>Analyser le positionnement stratégique et la part de marché des principaux groupes privés nationaux.</a:t>
            </a:r>
          </a:p>
        </p:txBody>
      </p:sp>
      <p:sp>
        <p:nvSpPr>
          <p:cNvPr id="36" name="Dot4"/>
          <p:cNvSpPr>
            <a:spLocks noGrp="1"/>
          </p:cNvSpPr>
          <p:nvPr/>
        </p:nvSpPr>
        <p:spPr>
          <a:xfrm>
            <a:off x="457200" y="2362200"/>
            <a:ext cx="228600" cy="228600"/>
          </a:xfrm>
          <a:prstGeom prst="ellipse">
            <a:avLst/>
          </a:prstGeom>
          <a:solidFill>
            <a:srgbClr val="02C39A"/>
          </a:solidFill>
          <a:ln>
            <a:noFill/>
          </a:ln>
        </p:spPr>
        <p:txBody>
          <a:bodyPr/>
          <a:lstStyle/>
          <a:p>
            <a:endParaRPr/>
          </a:p>
        </p:txBody>
      </p:sp>
      <p:sp>
        <p:nvSpPr>
          <p:cNvPr id="37" name="Text4"/>
          <p:cNvSpPr>
            <a:spLocks noGrp="1"/>
          </p:cNvSpPr>
          <p:nvPr/>
        </p:nvSpPr>
        <p:spPr>
          <a:xfrm>
            <a:off x="762000" y="2286000"/>
            <a:ext cx="8000400" cy="457200"/>
          </a:xfrm>
          <a:prstGeom prst="rect">
            <a:avLst/>
          </a:prstGeom>
          <a:noFill/>
          <a:ln>
            <a:noFill/>
          </a:ln>
        </p:spPr>
        <p:txBody>
          <a:bodyPr anchor="ctr"/>
          <a:lstStyle/>
          <a:p>
            <a:r>
              <a:rPr lang="fr-FR" sz="1400" dirty="0">
                <a:solidFill>
                  <a:srgbClr val="222222"/>
                </a:solidFill>
                <a:latin typeface="Trebuchet MS"/>
              </a:rPr>
              <a:t>Déterminer le modèle d’établissement le plus adapté (Privé, Public ou Associatif) selon le profil socio-économique des retraités de la zone géographique.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65A82"/>
        </a:solidFill>
        <a:effectLst/>
      </p:bgPr>
    </p:bg>
    <p:spTree>
      <p:nvGrpSpPr>
        <p:cNvPr id="1" name=""/>
        <p:cNvGrpSpPr/>
        <p:nvPr/>
      </p:nvGrpSpPr>
      <p:grpSpPr>
        <a:xfrm>
          <a:off x="0" y="0"/>
          <a:ext cx="0" cy="0"/>
          <a:chOff x="0" y="0"/>
          <a:chExt cx="0" cy="0"/>
        </a:xfrm>
      </p:grpSpPr>
      <p:sp>
        <p:nvSpPr>
          <p:cNvPr id="10" name="AccentBar"/>
          <p:cNvSpPr>
            <a:spLocks noGrp="1"/>
          </p:cNvSpPr>
          <p:nvPr/>
        </p:nvSpPr>
        <p:spPr>
          <a:xfrm>
            <a:off x="457200" y="2438400"/>
            <a:ext cx="152400" cy="914400"/>
          </a:xfrm>
          <a:prstGeom prst="rect">
            <a:avLst/>
          </a:prstGeom>
          <a:solidFill>
            <a:srgbClr val="02C39A"/>
          </a:solidFill>
          <a:ln>
            <a:noFill/>
          </a:ln>
        </p:spPr>
        <p:txBody>
          <a:bodyPr/>
          <a:lstStyle/>
          <a:p>
            <a:endParaRPr/>
          </a:p>
        </p:txBody>
      </p:sp>
      <p:sp>
        <p:nvSpPr>
          <p:cNvPr id="2" name="Titre"/>
          <p:cNvSpPr>
            <a:spLocks noGrp="1"/>
          </p:cNvSpPr>
          <p:nvPr/>
        </p:nvSpPr>
        <p:spPr>
          <a:xfrm>
            <a:off x="685800" y="2286000"/>
            <a:ext cx="7772400" cy="1219200"/>
          </a:xfrm>
          <a:prstGeom prst="rect">
            <a:avLst/>
          </a:prstGeom>
          <a:noFill/>
          <a:ln>
            <a:noFill/>
          </a:ln>
        </p:spPr>
        <p:txBody>
          <a:bodyPr anchor="ctr"/>
          <a:lstStyle/>
          <a:p>
            <a:r>
              <a:rPr lang="fr-FR" sz="4800" b="1" dirty="0">
                <a:solidFill>
                  <a:srgbClr val="FFFFFF"/>
                </a:solidFill>
                <a:latin typeface="Trebuchet MS"/>
              </a:rPr>
              <a:t>Difficultés &amp; Solutions</a:t>
            </a:r>
          </a:p>
        </p:txBody>
      </p:sp>
      <p:sp>
        <p:nvSpPr>
          <p:cNvPr id="11" name="BottomTag"/>
          <p:cNvSpPr>
            <a:spLocks noGrp="1"/>
          </p:cNvSpPr>
          <p:nvPr/>
        </p:nvSpPr>
        <p:spPr>
          <a:xfrm>
            <a:off x="0" y="6248400"/>
            <a:ext cx="9144000" cy="343800"/>
          </a:xfrm>
          <a:prstGeom prst="rect">
            <a:avLst/>
          </a:prstGeom>
          <a:solidFill>
            <a:srgbClr val="02C39A"/>
          </a:solidFill>
          <a:ln>
            <a:noFill/>
          </a:ln>
        </p:spPr>
        <p:txBody>
          <a:bodyPr/>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HeaderBar"/>
          <p:cNvSpPr>
            <a:spLocks noGrp="1"/>
          </p:cNvSpPr>
          <p:nvPr/>
        </p:nvSpPr>
        <p:spPr>
          <a:xfrm>
            <a:off x="0" y="0"/>
            <a:ext cx="9144000" cy="762000"/>
          </a:xfrm>
          <a:prstGeom prst="rect">
            <a:avLst/>
          </a:prstGeom>
          <a:solidFill>
            <a:srgbClr val="065A82"/>
          </a:solidFill>
          <a:ln>
            <a:noFill/>
          </a:ln>
        </p:spPr>
        <p:txBody>
          <a:bodyPr/>
          <a:lstStyle/>
          <a:p>
            <a:endParaRPr/>
          </a:p>
        </p:txBody>
      </p:sp>
      <p:sp>
        <p:nvSpPr>
          <p:cNvPr id="2" name="Titre"/>
          <p:cNvSpPr>
            <a:spLocks noGrp="1"/>
          </p:cNvSpPr>
          <p:nvPr/>
        </p:nvSpPr>
        <p:spPr>
          <a:xfrm>
            <a:off x="457200" y="0"/>
            <a:ext cx="8229600" cy="762000"/>
          </a:xfrm>
          <a:prstGeom prst="rect">
            <a:avLst/>
          </a:prstGeom>
          <a:noFill/>
          <a:ln>
            <a:noFill/>
          </a:ln>
        </p:spPr>
        <p:txBody>
          <a:bodyPr anchor="ctr"/>
          <a:lstStyle/>
          <a:p>
            <a:r>
              <a:rPr lang="fr-FR" sz="2800" b="1" dirty="0">
                <a:solidFill>
                  <a:srgbClr val="FFFFFF"/>
                </a:solidFill>
                <a:latin typeface="Trebuchet MS"/>
              </a:rPr>
              <a:t>Gestion des types de colonnes</a:t>
            </a:r>
          </a:p>
        </p:txBody>
      </p:sp>
      <p:sp>
        <p:nvSpPr>
          <p:cNvPr id="20" name="ProbLabel"/>
          <p:cNvSpPr>
            <a:spLocks noGrp="1"/>
          </p:cNvSpPr>
          <p:nvPr/>
        </p:nvSpPr>
        <p:spPr>
          <a:xfrm>
            <a:off x="457200" y="914400"/>
            <a:ext cx="1143000" cy="457200"/>
          </a:xfrm>
          <a:prstGeom prst="roundRect">
            <a:avLst>
              <a:gd name="adj" fmla="val 16667"/>
            </a:avLst>
          </a:prstGeom>
          <a:solidFill>
            <a:srgbClr val="065A82"/>
          </a:solidFill>
          <a:ln>
            <a:noFill/>
          </a:ln>
        </p:spPr>
        <p:txBody>
          <a:bodyPr anchor="ctr"/>
          <a:lstStyle/>
          <a:p>
            <a:pPr algn="ctr"/>
            <a:r>
              <a:rPr lang="fr-FR" sz="1200" b="1" dirty="0">
                <a:solidFill>
                  <a:srgbClr val="FFFFFF"/>
                </a:solidFill>
                <a:latin typeface="Trebuchet MS"/>
              </a:rPr>
              <a:t>Problème</a:t>
            </a:r>
          </a:p>
        </p:txBody>
      </p:sp>
      <p:sp>
        <p:nvSpPr>
          <p:cNvPr id="21" name="ProbText"/>
          <p:cNvSpPr>
            <a:spLocks noGrp="1"/>
          </p:cNvSpPr>
          <p:nvPr/>
        </p:nvSpPr>
        <p:spPr>
          <a:xfrm>
            <a:off x="457200" y="1447800"/>
            <a:ext cx="8229600" cy="800100"/>
          </a:xfrm>
          <a:prstGeom prst="rect">
            <a:avLst/>
          </a:prstGeom>
          <a:solidFill>
            <a:srgbClr val="F0F7FF"/>
          </a:solidFill>
          <a:ln w="19050">
            <a:solidFill>
              <a:srgbClr val="065A82"/>
            </a:solidFill>
          </a:ln>
        </p:spPr>
        <p:txBody>
          <a:bodyPr lIns="228600" rIns="228600" anchor="ctr"/>
          <a:lstStyle/>
          <a:p>
            <a:r>
              <a:rPr lang="fr-FR" sz="1400" dirty="0">
                <a:solidFill>
                  <a:srgbClr val="222222"/>
                </a:solidFill>
                <a:latin typeface="Trebuchet MS"/>
              </a:rPr>
              <a:t>De nombreuses colonnes ont des types qui semblent évidents en regardant les premières lignes, mais révèlent des particularités en examinant les données plus en profondeur.</a:t>
            </a:r>
          </a:p>
        </p:txBody>
      </p:sp>
      <p:sp>
        <p:nvSpPr>
          <p:cNvPr id="22" name="SolLabel"/>
          <p:cNvSpPr>
            <a:spLocks noGrp="1"/>
          </p:cNvSpPr>
          <p:nvPr/>
        </p:nvSpPr>
        <p:spPr>
          <a:xfrm>
            <a:off x="457200" y="2438400"/>
            <a:ext cx="1143000" cy="457200"/>
          </a:xfrm>
          <a:prstGeom prst="roundRect">
            <a:avLst>
              <a:gd name="adj" fmla="val 16667"/>
            </a:avLst>
          </a:prstGeom>
          <a:solidFill>
            <a:srgbClr val="02C39A"/>
          </a:solidFill>
          <a:ln>
            <a:noFill/>
          </a:ln>
        </p:spPr>
        <p:txBody>
          <a:bodyPr anchor="ctr"/>
          <a:lstStyle/>
          <a:p>
            <a:pPr algn="ctr"/>
            <a:r>
              <a:rPr lang="fr-FR" sz="1200" b="1" dirty="0">
                <a:solidFill>
                  <a:srgbClr val="FFFFFF"/>
                </a:solidFill>
                <a:latin typeface="Trebuchet MS"/>
              </a:rPr>
              <a:t>Solution</a:t>
            </a:r>
          </a:p>
        </p:txBody>
      </p:sp>
      <p:sp>
        <p:nvSpPr>
          <p:cNvPr id="23" name="SolText"/>
          <p:cNvSpPr>
            <a:spLocks noGrp="1"/>
          </p:cNvSpPr>
          <p:nvPr/>
        </p:nvSpPr>
        <p:spPr>
          <a:xfrm>
            <a:off x="457200" y="2971800"/>
            <a:ext cx="8229600" cy="914400"/>
          </a:xfrm>
          <a:prstGeom prst="rect">
            <a:avLst/>
          </a:prstGeom>
          <a:solidFill>
            <a:srgbClr val="E8FFF8"/>
          </a:solidFill>
          <a:ln w="19050">
            <a:solidFill>
              <a:srgbClr val="02C39A"/>
            </a:solidFill>
          </a:ln>
        </p:spPr>
        <p:txBody>
          <a:bodyPr lIns="228600" rIns="228600" anchor="ctr"/>
          <a:lstStyle/>
          <a:p>
            <a:r>
              <a:rPr lang="fr-FR" sz="1400" dirty="0">
                <a:solidFill>
                  <a:srgbClr val="222222"/>
                </a:solidFill>
                <a:latin typeface="Trebuchet MS"/>
              </a:rPr>
              <a:t>Vérifier avec PDI si l’import fonctionne avec un type précis. </a:t>
            </a:r>
            <a:r>
              <a:rPr lang="fr-FR" sz="1400" b="1" dirty="0">
                <a:solidFill>
                  <a:srgbClr val="065A82"/>
                </a:solidFill>
                <a:latin typeface="Trebuchet MS"/>
              </a:rPr>
              <a:t>Exemple :</a:t>
            </a:r>
            <a:r>
              <a:rPr lang="fr-FR" sz="1400" dirty="0">
                <a:solidFill>
                  <a:srgbClr val="222222"/>
                </a:solidFill>
                <a:latin typeface="Trebuchet MS"/>
              </a:rPr>
              <a:t> le code département est logiquement un entier, mais la Creuse (2A/2B) impose de le convertir en chaîne de texte.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HeaderBar"/>
          <p:cNvSpPr>
            <a:spLocks noGrp="1"/>
          </p:cNvSpPr>
          <p:nvPr/>
        </p:nvSpPr>
        <p:spPr>
          <a:xfrm>
            <a:off x="0" y="0"/>
            <a:ext cx="9144000" cy="762000"/>
          </a:xfrm>
          <a:prstGeom prst="rect">
            <a:avLst/>
          </a:prstGeom>
          <a:solidFill>
            <a:srgbClr val="065A82"/>
          </a:solidFill>
          <a:ln>
            <a:noFill/>
          </a:ln>
        </p:spPr>
        <p:txBody>
          <a:bodyPr/>
          <a:lstStyle/>
          <a:p>
            <a:endParaRPr/>
          </a:p>
        </p:txBody>
      </p:sp>
      <p:sp>
        <p:nvSpPr>
          <p:cNvPr id="2" name="Titre"/>
          <p:cNvSpPr>
            <a:spLocks noGrp="1"/>
          </p:cNvSpPr>
          <p:nvPr/>
        </p:nvSpPr>
        <p:spPr>
          <a:xfrm>
            <a:off x="457200" y="0"/>
            <a:ext cx="8229600" cy="762000"/>
          </a:xfrm>
          <a:prstGeom prst="rect">
            <a:avLst/>
          </a:prstGeom>
          <a:noFill/>
          <a:ln>
            <a:noFill/>
          </a:ln>
        </p:spPr>
        <p:txBody>
          <a:bodyPr anchor="ctr"/>
          <a:lstStyle/>
          <a:p>
            <a:r>
              <a:rPr lang="fr-FR" sz="2800" b="1" dirty="0">
                <a:solidFill>
                  <a:srgbClr val="FFFFFF"/>
                </a:solidFill>
                <a:latin typeface="Trebuchet MS"/>
              </a:rPr>
              <a:t>Découverte de PDI avec DB Browser</a:t>
            </a:r>
          </a:p>
        </p:txBody>
      </p:sp>
      <p:sp>
        <p:nvSpPr>
          <p:cNvPr id="20" name="ProbLabel"/>
          <p:cNvSpPr>
            <a:spLocks noGrp="1"/>
          </p:cNvSpPr>
          <p:nvPr/>
        </p:nvSpPr>
        <p:spPr>
          <a:xfrm>
            <a:off x="457200" y="914400"/>
            <a:ext cx="1143000" cy="457200"/>
          </a:xfrm>
          <a:prstGeom prst="roundRect">
            <a:avLst>
              <a:gd name="adj" fmla="val 16667"/>
            </a:avLst>
          </a:prstGeom>
          <a:solidFill>
            <a:srgbClr val="065A82"/>
          </a:solidFill>
          <a:ln>
            <a:noFill/>
          </a:ln>
        </p:spPr>
        <p:txBody>
          <a:bodyPr anchor="ctr"/>
          <a:lstStyle/>
          <a:p>
            <a:pPr algn="ctr"/>
            <a:r>
              <a:rPr lang="fr-FR" sz="1200" b="1" dirty="0">
                <a:solidFill>
                  <a:srgbClr val="FFFFFF"/>
                </a:solidFill>
                <a:latin typeface="Trebuchet MS"/>
              </a:rPr>
              <a:t>Contexte</a:t>
            </a:r>
          </a:p>
        </p:txBody>
      </p:sp>
      <p:sp>
        <p:nvSpPr>
          <p:cNvPr id="21" name="ProbText"/>
          <p:cNvSpPr>
            <a:spLocks noGrp="1"/>
          </p:cNvSpPr>
          <p:nvPr/>
        </p:nvSpPr>
        <p:spPr>
          <a:xfrm>
            <a:off x="457200" y="1447800"/>
            <a:ext cx="8229600" cy="800100"/>
          </a:xfrm>
          <a:prstGeom prst="rect">
            <a:avLst/>
          </a:prstGeom>
          <a:solidFill>
            <a:srgbClr val="F0F7FF"/>
          </a:solidFill>
          <a:ln w="19050">
            <a:solidFill>
              <a:srgbClr val="065A82"/>
            </a:solidFill>
          </a:ln>
        </p:spPr>
        <p:txBody>
          <a:bodyPr lIns="228600" rIns="228600" anchor="ctr"/>
          <a:lstStyle/>
          <a:p>
            <a:r>
              <a:rPr lang="fr-FR" sz="1400" dirty="0">
                <a:solidFill>
                  <a:srgbClr val="222222"/>
                </a:solidFill>
                <a:latin typeface="Trebuchet MS"/>
              </a:rPr>
              <a:t>Ce projet a été l’occasion de découvrir l’utilisation de PDI avec des bases de données créées via DB Browser. Une phase de documentation a été nécessaire pour comprendre comment établir la connexion.</a:t>
            </a:r>
          </a:p>
        </p:txBody>
      </p:sp>
      <p:sp>
        <p:nvSpPr>
          <p:cNvPr id="22" name="SolLabel"/>
          <p:cNvSpPr>
            <a:spLocks noGrp="1"/>
          </p:cNvSpPr>
          <p:nvPr/>
        </p:nvSpPr>
        <p:spPr>
          <a:xfrm>
            <a:off x="457200" y="2438400"/>
            <a:ext cx="1143000" cy="457200"/>
          </a:xfrm>
          <a:prstGeom prst="roundRect">
            <a:avLst>
              <a:gd name="adj" fmla="val 16667"/>
            </a:avLst>
          </a:prstGeom>
          <a:solidFill>
            <a:srgbClr val="02C39A"/>
          </a:solidFill>
          <a:ln>
            <a:noFill/>
          </a:ln>
        </p:spPr>
        <p:txBody>
          <a:bodyPr anchor="ctr"/>
          <a:lstStyle/>
          <a:p>
            <a:pPr algn="ctr"/>
            <a:r>
              <a:rPr lang="fr-FR" sz="1200" b="1" dirty="0">
                <a:solidFill>
                  <a:srgbClr val="FFFFFF"/>
                </a:solidFill>
                <a:latin typeface="Trebuchet MS"/>
              </a:rPr>
              <a:t>Solution</a:t>
            </a:r>
          </a:p>
        </p:txBody>
      </p:sp>
      <p:sp>
        <p:nvSpPr>
          <p:cNvPr id="23" name="SolText"/>
          <p:cNvSpPr>
            <a:spLocks noGrp="1"/>
          </p:cNvSpPr>
          <p:nvPr/>
        </p:nvSpPr>
        <p:spPr>
          <a:xfrm>
            <a:off x="457200" y="2971800"/>
            <a:ext cx="8229600" cy="800100"/>
          </a:xfrm>
          <a:prstGeom prst="rect">
            <a:avLst/>
          </a:prstGeom>
          <a:solidFill>
            <a:srgbClr val="E8FFF8"/>
          </a:solidFill>
          <a:ln w="19050">
            <a:solidFill>
              <a:srgbClr val="02C39A"/>
            </a:solidFill>
          </a:ln>
        </p:spPr>
        <p:txBody>
          <a:bodyPr lIns="228600" rIns="228600" anchor="ctr"/>
          <a:lstStyle/>
          <a:p>
            <a:r>
              <a:rPr lang="fr-FR" sz="1400" dirty="0">
                <a:solidFill>
                  <a:srgbClr val="222222"/>
                </a:solidFill>
                <a:latin typeface="Trebuchet MS"/>
              </a:rPr>
              <a:t>La connexion ne passant pas par un serveur, il a fallu fournir à PDI le chemin d’accès direct au fichier de la base de données créée avec DB Browser.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HeaderBar"/>
          <p:cNvSpPr>
            <a:spLocks noGrp="1"/>
          </p:cNvSpPr>
          <p:nvPr/>
        </p:nvSpPr>
        <p:spPr>
          <a:xfrm>
            <a:off x="0" y="0"/>
            <a:ext cx="9144000" cy="762000"/>
          </a:xfrm>
          <a:prstGeom prst="rect">
            <a:avLst/>
          </a:prstGeom>
          <a:solidFill>
            <a:srgbClr val="065A82"/>
          </a:solidFill>
          <a:ln>
            <a:noFill/>
          </a:ln>
        </p:spPr>
        <p:txBody>
          <a:bodyPr/>
          <a:lstStyle/>
          <a:p>
            <a:endParaRPr/>
          </a:p>
        </p:txBody>
      </p:sp>
      <p:sp>
        <p:nvSpPr>
          <p:cNvPr id="2" name="Titre"/>
          <p:cNvSpPr>
            <a:spLocks noGrp="1"/>
          </p:cNvSpPr>
          <p:nvPr/>
        </p:nvSpPr>
        <p:spPr>
          <a:xfrm>
            <a:off x="457200" y="0"/>
            <a:ext cx="8229600" cy="762000"/>
          </a:xfrm>
          <a:prstGeom prst="rect">
            <a:avLst/>
          </a:prstGeom>
          <a:noFill/>
          <a:ln>
            <a:noFill/>
          </a:ln>
        </p:spPr>
        <p:txBody>
          <a:bodyPr anchor="ctr"/>
          <a:lstStyle/>
          <a:p>
            <a:r>
              <a:rPr lang="fr-FR" sz="2800" b="1" dirty="0">
                <a:solidFill>
                  <a:srgbClr val="FFFFFF"/>
                </a:solidFill>
                <a:latin typeface="Trebuchet MS"/>
              </a:rPr>
              <a:t>Fichiers avec colonne vide</a:t>
            </a:r>
          </a:p>
        </p:txBody>
      </p:sp>
      <p:sp>
        <p:nvSpPr>
          <p:cNvPr id="20" name="ProbLabel"/>
          <p:cNvSpPr>
            <a:spLocks noGrp="1"/>
          </p:cNvSpPr>
          <p:nvPr/>
        </p:nvSpPr>
        <p:spPr>
          <a:xfrm>
            <a:off x="457200" y="914400"/>
            <a:ext cx="1143000" cy="457200"/>
          </a:xfrm>
          <a:prstGeom prst="roundRect">
            <a:avLst>
              <a:gd name="adj" fmla="val 16667"/>
            </a:avLst>
          </a:prstGeom>
          <a:solidFill>
            <a:srgbClr val="065A82"/>
          </a:solidFill>
          <a:ln>
            <a:noFill/>
          </a:ln>
        </p:spPr>
        <p:txBody>
          <a:bodyPr anchor="ctr"/>
          <a:lstStyle/>
          <a:p>
            <a:pPr algn="ctr"/>
            <a:r>
              <a:rPr lang="fr-FR" sz="1200" b="1" dirty="0">
                <a:solidFill>
                  <a:srgbClr val="FFFFFF"/>
                </a:solidFill>
                <a:latin typeface="Trebuchet MS"/>
              </a:rPr>
              <a:t>Problème</a:t>
            </a:r>
          </a:p>
        </p:txBody>
      </p:sp>
      <p:sp>
        <p:nvSpPr>
          <p:cNvPr id="21" name="ProbText"/>
          <p:cNvSpPr>
            <a:spLocks noGrp="1"/>
          </p:cNvSpPr>
          <p:nvPr/>
        </p:nvSpPr>
        <p:spPr>
          <a:xfrm>
            <a:off x="457200" y="1447800"/>
            <a:ext cx="8229600" cy="914400"/>
          </a:xfrm>
          <a:prstGeom prst="rect">
            <a:avLst/>
          </a:prstGeom>
          <a:solidFill>
            <a:srgbClr val="F0F7FF"/>
          </a:solidFill>
          <a:ln w="19050">
            <a:solidFill>
              <a:srgbClr val="065A82"/>
            </a:solidFill>
          </a:ln>
        </p:spPr>
        <p:txBody>
          <a:bodyPr lIns="228600" rIns="228600" anchor="ctr"/>
          <a:lstStyle/>
          <a:p>
            <a:r>
              <a:rPr lang="fr-FR" sz="1400" dirty="0">
                <a:solidFill>
                  <a:srgbClr val="222222"/>
                </a:solidFill>
                <a:latin typeface="Trebuchet MS"/>
              </a:rPr>
              <a:t>Lors du chargement de « age-insee-2020.xlsx », les données de population masculine étaient séparées du reste par une colonne entièrement vide, empêchant PDI de lire les colonnes situées au-delà.</a:t>
            </a:r>
          </a:p>
        </p:txBody>
      </p:sp>
      <p:sp>
        <p:nvSpPr>
          <p:cNvPr id="22" name="SolLabel"/>
          <p:cNvSpPr>
            <a:spLocks noGrp="1"/>
          </p:cNvSpPr>
          <p:nvPr/>
        </p:nvSpPr>
        <p:spPr>
          <a:xfrm>
            <a:off x="457200" y="2590800"/>
            <a:ext cx="1143000" cy="457200"/>
          </a:xfrm>
          <a:prstGeom prst="roundRect">
            <a:avLst>
              <a:gd name="adj" fmla="val 16667"/>
            </a:avLst>
          </a:prstGeom>
          <a:solidFill>
            <a:srgbClr val="02C39A"/>
          </a:solidFill>
          <a:ln>
            <a:noFill/>
          </a:ln>
        </p:spPr>
        <p:txBody>
          <a:bodyPr anchor="ctr"/>
          <a:lstStyle/>
          <a:p>
            <a:pPr algn="ctr"/>
            <a:r>
              <a:rPr lang="fr-FR" sz="1200" b="1" dirty="0">
                <a:solidFill>
                  <a:srgbClr val="FFFFFF"/>
                </a:solidFill>
                <a:latin typeface="Trebuchet MS"/>
              </a:rPr>
              <a:t>Solution</a:t>
            </a:r>
          </a:p>
        </p:txBody>
      </p:sp>
      <p:sp>
        <p:nvSpPr>
          <p:cNvPr id="23" name="SolText"/>
          <p:cNvSpPr>
            <a:spLocks noGrp="1"/>
          </p:cNvSpPr>
          <p:nvPr/>
        </p:nvSpPr>
        <p:spPr>
          <a:xfrm>
            <a:off x="457200" y="3124200"/>
            <a:ext cx="8229600" cy="800100"/>
          </a:xfrm>
          <a:prstGeom prst="rect">
            <a:avLst/>
          </a:prstGeom>
          <a:solidFill>
            <a:srgbClr val="E8FFF8"/>
          </a:solidFill>
          <a:ln w="19050">
            <a:solidFill>
              <a:srgbClr val="02C39A"/>
            </a:solidFill>
          </a:ln>
        </p:spPr>
        <p:txBody>
          <a:bodyPr lIns="228600" rIns="228600" anchor="ctr"/>
          <a:lstStyle/>
          <a:p>
            <a:r>
              <a:rPr lang="fr-FR" sz="1400" dirty="0">
                <a:solidFill>
                  <a:srgbClr val="222222"/>
                </a:solidFill>
                <a:latin typeface="Trebuchet MS"/>
              </a:rPr>
              <a:t>Indiquer explicitement à PDI quelles colonnes charger, afin qu’il prenne en compte la colonne vide et les données situées après celle-ci.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65A82"/>
        </a:solidFill>
        <a:effectLst/>
      </p:bgPr>
    </p:bg>
    <p:spTree>
      <p:nvGrpSpPr>
        <p:cNvPr id="1" name=""/>
        <p:cNvGrpSpPr/>
        <p:nvPr/>
      </p:nvGrpSpPr>
      <p:grpSpPr>
        <a:xfrm>
          <a:off x="0" y="0"/>
          <a:ext cx="0" cy="0"/>
          <a:chOff x="0" y="0"/>
          <a:chExt cx="0" cy="0"/>
        </a:xfrm>
      </p:grpSpPr>
      <p:sp>
        <p:nvSpPr>
          <p:cNvPr id="10" name="AccentBar"/>
          <p:cNvSpPr>
            <a:spLocks noGrp="1"/>
          </p:cNvSpPr>
          <p:nvPr/>
        </p:nvSpPr>
        <p:spPr>
          <a:xfrm>
            <a:off x="457200" y="2438400"/>
            <a:ext cx="152400" cy="914400"/>
          </a:xfrm>
          <a:prstGeom prst="rect">
            <a:avLst/>
          </a:prstGeom>
          <a:solidFill>
            <a:srgbClr val="02C39A"/>
          </a:solidFill>
          <a:ln>
            <a:noFill/>
          </a:ln>
        </p:spPr>
        <p:txBody>
          <a:bodyPr/>
          <a:lstStyle/>
          <a:p>
            <a:endParaRPr/>
          </a:p>
        </p:txBody>
      </p:sp>
      <p:sp>
        <p:nvSpPr>
          <p:cNvPr id="2" name="Titre"/>
          <p:cNvSpPr>
            <a:spLocks noGrp="1"/>
          </p:cNvSpPr>
          <p:nvPr/>
        </p:nvSpPr>
        <p:spPr>
          <a:xfrm>
            <a:off x="685800" y="2286000"/>
            <a:ext cx="7772400" cy="1219200"/>
          </a:xfrm>
          <a:prstGeom prst="rect">
            <a:avLst/>
          </a:prstGeom>
          <a:noFill/>
          <a:ln>
            <a:noFill/>
          </a:ln>
        </p:spPr>
        <p:txBody>
          <a:bodyPr anchor="ctr"/>
          <a:lstStyle/>
          <a:p>
            <a:r>
              <a:rPr lang="fr-FR" sz="4800" b="1" dirty="0">
                <a:solidFill>
                  <a:srgbClr val="FFFFFF"/>
                </a:solidFill>
                <a:latin typeface="Trebuchet MS"/>
              </a:rPr>
              <a:t>Fonctionnalités de l’application</a:t>
            </a:r>
          </a:p>
        </p:txBody>
      </p:sp>
      <p:sp>
        <p:nvSpPr>
          <p:cNvPr id="11" name="BottomTag"/>
          <p:cNvSpPr>
            <a:spLocks noGrp="1"/>
          </p:cNvSpPr>
          <p:nvPr/>
        </p:nvSpPr>
        <p:spPr>
          <a:xfrm>
            <a:off x="0" y="6248400"/>
            <a:ext cx="9144000" cy="343800"/>
          </a:xfrm>
          <a:prstGeom prst="rect">
            <a:avLst/>
          </a:prstGeom>
          <a:solidFill>
            <a:srgbClr val="02C39A"/>
          </a:solidFill>
          <a:ln>
            <a:noFill/>
          </a:ln>
        </p:spPr>
        <p:txBody>
          <a:bodyPr/>
          <a:lstStyle/>
          <a:p>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50158C7-C66F-0D02-32A8-0B8D3314B0D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Page 1</a:t>
            </a:r>
          </a:p>
        </p:txBody>
      </p:sp>
      <p:pic>
        <p:nvPicPr>
          <p:cNvPr id="7" name="Image 6">
            <a:extLst>
              <a:ext uri="{FF2B5EF4-FFF2-40B4-BE49-F238E27FC236}">
                <a16:creationId xmlns:a16="http://schemas.microsoft.com/office/drawing/2014/main" id="{26C3C51A-9665-280B-D867-26A836836698}"/>
              </a:ext>
            </a:extLst>
          </p:cNvPr>
          <p:cNvPicPr>
            <a:picLocks noChangeAspect="1"/>
          </p:cNvPicPr>
          <p:nvPr/>
        </p:nvPicPr>
        <p:blipFill>
          <a:blip r:embed="rId2"/>
          <a:stretch>
            <a:fillRect/>
          </a:stretch>
        </p:blipFill>
        <p:spPr>
          <a:xfrm>
            <a:off x="2120857" y="1966293"/>
            <a:ext cx="7950285" cy="4452160"/>
          </a:xfrm>
          <a:prstGeom prst="rect">
            <a:avLst/>
          </a:prstGeom>
        </p:spPr>
      </p:pic>
    </p:spTree>
    <p:extLst>
      <p:ext uri="{BB962C8B-B14F-4D97-AF65-F5344CB8AC3E}">
        <p14:creationId xmlns:p14="http://schemas.microsoft.com/office/powerpoint/2010/main" val="4211009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2D6E25-CAF7-6577-40B4-F08FC3A78EF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CC0688C-997D-613C-F072-213A74CD7152}"/>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Page 2</a:t>
            </a:r>
          </a:p>
        </p:txBody>
      </p:sp>
      <p:pic>
        <p:nvPicPr>
          <p:cNvPr id="4" name="Image 3">
            <a:extLst>
              <a:ext uri="{FF2B5EF4-FFF2-40B4-BE49-F238E27FC236}">
                <a16:creationId xmlns:a16="http://schemas.microsoft.com/office/drawing/2014/main" id="{84A3F082-09E4-6174-E714-7D4445E20525}"/>
              </a:ext>
            </a:extLst>
          </p:cNvPr>
          <p:cNvPicPr>
            <a:picLocks noChangeAspect="1"/>
          </p:cNvPicPr>
          <p:nvPr/>
        </p:nvPicPr>
        <p:blipFill>
          <a:blip r:embed="rId2"/>
          <a:stretch>
            <a:fillRect/>
          </a:stretch>
        </p:blipFill>
        <p:spPr>
          <a:xfrm>
            <a:off x="2156034" y="1966293"/>
            <a:ext cx="7879931" cy="4452160"/>
          </a:xfrm>
          <a:prstGeom prst="rect">
            <a:avLst/>
          </a:prstGeom>
        </p:spPr>
      </p:pic>
    </p:spTree>
    <p:extLst>
      <p:ext uri="{BB962C8B-B14F-4D97-AF65-F5344CB8AC3E}">
        <p14:creationId xmlns:p14="http://schemas.microsoft.com/office/powerpoint/2010/main" val="2281044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F3DDCF-E0C8-1DA4-E885-D193590D0B8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0C2C5F7-7050-471C-0C72-6E9A6DB8274B}"/>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Page 3</a:t>
            </a:r>
          </a:p>
        </p:txBody>
      </p:sp>
      <p:pic>
        <p:nvPicPr>
          <p:cNvPr id="4" name="Image 3">
            <a:extLst>
              <a:ext uri="{FF2B5EF4-FFF2-40B4-BE49-F238E27FC236}">
                <a16:creationId xmlns:a16="http://schemas.microsoft.com/office/drawing/2014/main" id="{BBDB4910-07B7-584C-0249-68200B3565AC}"/>
              </a:ext>
            </a:extLst>
          </p:cNvPr>
          <p:cNvPicPr>
            <a:picLocks noChangeAspect="1"/>
          </p:cNvPicPr>
          <p:nvPr/>
        </p:nvPicPr>
        <p:blipFill>
          <a:blip r:embed="rId2"/>
          <a:stretch>
            <a:fillRect/>
          </a:stretch>
        </p:blipFill>
        <p:spPr>
          <a:xfrm>
            <a:off x="2120857" y="1966293"/>
            <a:ext cx="7950285" cy="4452160"/>
          </a:xfrm>
          <a:prstGeom prst="rect">
            <a:avLst/>
          </a:prstGeom>
        </p:spPr>
      </p:pic>
    </p:spTree>
    <p:extLst>
      <p:ext uri="{BB962C8B-B14F-4D97-AF65-F5344CB8AC3E}">
        <p14:creationId xmlns:p14="http://schemas.microsoft.com/office/powerpoint/2010/main" val="3085031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65A82"/>
        </a:solidFill>
        <a:effectLst/>
      </p:bgPr>
    </p:bg>
    <p:spTree>
      <p:nvGrpSpPr>
        <p:cNvPr id="1" name=""/>
        <p:cNvGrpSpPr/>
        <p:nvPr/>
      </p:nvGrpSpPr>
      <p:grpSpPr>
        <a:xfrm>
          <a:off x="0" y="0"/>
          <a:ext cx="0" cy="0"/>
          <a:chOff x="0" y="0"/>
          <a:chExt cx="0" cy="0"/>
        </a:xfrm>
      </p:grpSpPr>
      <p:sp>
        <p:nvSpPr>
          <p:cNvPr id="10" name="AccentBar"/>
          <p:cNvSpPr>
            <a:spLocks noGrp="1"/>
          </p:cNvSpPr>
          <p:nvPr/>
        </p:nvSpPr>
        <p:spPr>
          <a:xfrm>
            <a:off x="457200" y="2438400"/>
            <a:ext cx="152400" cy="914400"/>
          </a:xfrm>
          <a:prstGeom prst="rect">
            <a:avLst/>
          </a:prstGeom>
          <a:solidFill>
            <a:srgbClr val="02C39A"/>
          </a:solidFill>
          <a:ln>
            <a:noFill/>
          </a:ln>
        </p:spPr>
        <p:txBody>
          <a:bodyPr/>
          <a:lstStyle/>
          <a:p>
            <a:endParaRPr/>
          </a:p>
        </p:txBody>
      </p:sp>
      <p:sp>
        <p:nvSpPr>
          <p:cNvPr id="2" name="Titre"/>
          <p:cNvSpPr>
            <a:spLocks noGrp="1"/>
          </p:cNvSpPr>
          <p:nvPr/>
        </p:nvSpPr>
        <p:spPr>
          <a:xfrm>
            <a:off x="685800" y="2286000"/>
            <a:ext cx="7772400" cy="1219200"/>
          </a:xfrm>
          <a:prstGeom prst="rect">
            <a:avLst/>
          </a:prstGeom>
          <a:noFill/>
          <a:ln>
            <a:noFill/>
          </a:ln>
        </p:spPr>
        <p:txBody>
          <a:bodyPr anchor="ctr"/>
          <a:lstStyle/>
          <a:p>
            <a:r>
              <a:rPr lang="fr-FR" sz="4800" b="1" dirty="0">
                <a:solidFill>
                  <a:srgbClr val="FFFFFF"/>
                </a:solidFill>
                <a:latin typeface="Trebuchet MS"/>
              </a:rPr>
              <a:t>Compléments</a:t>
            </a:r>
          </a:p>
        </p:txBody>
      </p:sp>
      <p:sp>
        <p:nvSpPr>
          <p:cNvPr id="11" name="BottomTag"/>
          <p:cNvSpPr>
            <a:spLocks noGrp="1"/>
          </p:cNvSpPr>
          <p:nvPr/>
        </p:nvSpPr>
        <p:spPr>
          <a:xfrm>
            <a:off x="0" y="6248400"/>
            <a:ext cx="9144000" cy="343800"/>
          </a:xfrm>
          <a:prstGeom prst="rect">
            <a:avLst/>
          </a:prstGeom>
          <a:solidFill>
            <a:srgbClr val="02C39A"/>
          </a:solidFill>
          <a:ln>
            <a:noFill/>
          </a:ln>
        </p:spPr>
        <p:txBody>
          <a:bodyPr/>
          <a:lstStyle/>
          <a:p>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ADD9A8-5F50-144C-965B-4FF491FAD011}"/>
              </a:ext>
            </a:extLst>
          </p:cNvPr>
          <p:cNvSpPr>
            <a:spLocks noGrp="1"/>
          </p:cNvSpPr>
          <p:nvPr>
            <p:ph type="title"/>
          </p:nvPr>
        </p:nvSpPr>
        <p:spPr>
          <a:xfrm>
            <a:off x="0" y="0"/>
            <a:ext cx="7891272" cy="681037"/>
          </a:xfrm>
          <a:solidFill>
            <a:srgbClr val="065A82"/>
          </a:solidFill>
          <a:ln>
            <a:noFill/>
          </a:ln>
        </p:spPr>
        <p:txBody>
          <a:bodyPr/>
          <a:lstStyle/>
          <a:p>
            <a:r>
              <a:rPr lang="fr-FR" sz="2800" b="1" dirty="0">
                <a:solidFill>
                  <a:srgbClr val="FFFFFF"/>
                </a:solidFill>
                <a:latin typeface="Trebuchet MS"/>
                <a:ea typeface="+mn-ea"/>
                <a:cs typeface="+mn-cs"/>
              </a:rPr>
              <a:t>Chargement des taches</a:t>
            </a:r>
          </a:p>
        </p:txBody>
      </p:sp>
      <p:sp>
        <p:nvSpPr>
          <p:cNvPr id="3" name="Espace réservé du contenu 2">
            <a:extLst>
              <a:ext uri="{FF2B5EF4-FFF2-40B4-BE49-F238E27FC236}">
                <a16:creationId xmlns:a16="http://schemas.microsoft.com/office/drawing/2014/main" id="{33E3AA89-BBDB-AE1F-2E33-8724C36FFBEA}"/>
              </a:ext>
            </a:extLst>
          </p:cNvPr>
          <p:cNvSpPr>
            <a:spLocks noGrp="1"/>
          </p:cNvSpPr>
          <p:nvPr>
            <p:ph idx="1"/>
          </p:nvPr>
        </p:nvSpPr>
        <p:spPr>
          <a:xfrm>
            <a:off x="457200" y="1592262"/>
            <a:ext cx="10030968" cy="681037"/>
          </a:xfrm>
          <a:solidFill>
            <a:srgbClr val="F0F7FF"/>
          </a:solidFill>
          <a:ln w="19050">
            <a:solidFill>
              <a:srgbClr val="065A82"/>
            </a:solidFill>
          </a:ln>
        </p:spPr>
        <p:txBody>
          <a:bodyPr lIns="228600" rIns="228600" anchor="ctr"/>
          <a:lstStyle/>
          <a:p>
            <a:pPr marL="0" indent="0">
              <a:buNone/>
            </a:pPr>
            <a:r>
              <a:rPr lang="fr-FR" sz="1400" dirty="0">
                <a:solidFill>
                  <a:srgbClr val="222222"/>
                </a:solidFill>
                <a:latin typeface="Trebuchet MS"/>
              </a:rPr>
              <a:t>Actuellement les tâches PDI ne fonctionnent que pour Mattéo dû au chemin d’accès. Il faudrait trouver un moyen pour avoir des chemins d’accès relatifs afin que les tâches fonctionnent pour n’importe qui.</a:t>
            </a:r>
          </a:p>
        </p:txBody>
      </p:sp>
      <p:sp>
        <p:nvSpPr>
          <p:cNvPr id="4" name="ProbLabel">
            <a:extLst>
              <a:ext uri="{FF2B5EF4-FFF2-40B4-BE49-F238E27FC236}">
                <a16:creationId xmlns:a16="http://schemas.microsoft.com/office/drawing/2014/main" id="{C429E105-B8EA-FB31-3BC9-FA5D689ADEFB}"/>
              </a:ext>
            </a:extLst>
          </p:cNvPr>
          <p:cNvSpPr>
            <a:spLocks noGrp="1"/>
          </p:cNvSpPr>
          <p:nvPr/>
        </p:nvSpPr>
        <p:spPr>
          <a:xfrm>
            <a:off x="457200" y="914400"/>
            <a:ext cx="1252728" cy="457200"/>
          </a:xfrm>
          <a:prstGeom prst="roundRect">
            <a:avLst>
              <a:gd name="adj" fmla="val 16667"/>
            </a:avLst>
          </a:prstGeom>
          <a:solidFill>
            <a:srgbClr val="065A82"/>
          </a:solidFill>
          <a:ln>
            <a:noFill/>
          </a:ln>
        </p:spPr>
        <p:txBody>
          <a:bodyPr anchor="ctr"/>
          <a:lstStyle/>
          <a:p>
            <a:pPr algn="ctr"/>
            <a:r>
              <a:rPr lang="fr-FR" sz="1200" b="1" dirty="0">
                <a:solidFill>
                  <a:srgbClr val="FFFFFF"/>
                </a:solidFill>
                <a:latin typeface="Trebuchet MS"/>
              </a:rPr>
              <a:t>Amélioration </a:t>
            </a:r>
          </a:p>
        </p:txBody>
      </p:sp>
      <p:sp>
        <p:nvSpPr>
          <p:cNvPr id="5" name="Espace réservé du contenu 2">
            <a:extLst>
              <a:ext uri="{FF2B5EF4-FFF2-40B4-BE49-F238E27FC236}">
                <a16:creationId xmlns:a16="http://schemas.microsoft.com/office/drawing/2014/main" id="{059B50A8-55DD-1B5F-D16A-951E6C5A5E99}"/>
              </a:ext>
            </a:extLst>
          </p:cNvPr>
          <p:cNvSpPr txBox="1">
            <a:spLocks/>
          </p:cNvSpPr>
          <p:nvPr/>
        </p:nvSpPr>
        <p:spPr>
          <a:xfrm>
            <a:off x="457200" y="3184524"/>
            <a:ext cx="10030968" cy="681037"/>
          </a:xfrm>
          <a:prstGeom prst="rect">
            <a:avLst/>
          </a:prstGeom>
          <a:solidFill>
            <a:srgbClr val="F0F7FF"/>
          </a:solidFill>
          <a:ln w="19050">
            <a:solidFill>
              <a:srgbClr val="065A82"/>
            </a:solidFill>
          </a:ln>
        </p:spPr>
        <p:txBody>
          <a:bodyPr vert="horz" lIns="228600" tIns="45720" rIns="22860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400" dirty="0">
                <a:solidFill>
                  <a:srgbClr val="222222"/>
                </a:solidFill>
                <a:latin typeface="Trebuchet MS"/>
              </a:rPr>
              <a:t>Le groupe n’est pas entièrement satisfait du design final de l’application et des pistes de réflexion pour améliorer les KPI et les graphiques sont en cours</a:t>
            </a:r>
          </a:p>
        </p:txBody>
      </p:sp>
      <p:sp>
        <p:nvSpPr>
          <p:cNvPr id="6" name="ProbLabel">
            <a:extLst>
              <a:ext uri="{FF2B5EF4-FFF2-40B4-BE49-F238E27FC236}">
                <a16:creationId xmlns:a16="http://schemas.microsoft.com/office/drawing/2014/main" id="{7B89C5C1-887C-89C4-458B-38D588443B48}"/>
              </a:ext>
            </a:extLst>
          </p:cNvPr>
          <p:cNvSpPr>
            <a:spLocks noGrp="1"/>
          </p:cNvSpPr>
          <p:nvPr/>
        </p:nvSpPr>
        <p:spPr>
          <a:xfrm>
            <a:off x="457200" y="2506662"/>
            <a:ext cx="1252728" cy="457200"/>
          </a:xfrm>
          <a:prstGeom prst="roundRect">
            <a:avLst>
              <a:gd name="adj" fmla="val 16667"/>
            </a:avLst>
          </a:prstGeom>
          <a:solidFill>
            <a:srgbClr val="065A82"/>
          </a:solidFill>
          <a:ln>
            <a:noFill/>
          </a:ln>
        </p:spPr>
        <p:txBody>
          <a:bodyPr anchor="ctr"/>
          <a:lstStyle/>
          <a:p>
            <a:pPr algn="ctr"/>
            <a:r>
              <a:rPr lang="fr-FR" sz="1200" b="1" dirty="0">
                <a:solidFill>
                  <a:srgbClr val="FFFFFF"/>
                </a:solidFill>
                <a:latin typeface="Trebuchet MS"/>
              </a:rPr>
              <a:t>Amélioration</a:t>
            </a:r>
          </a:p>
        </p:txBody>
      </p:sp>
    </p:spTree>
    <p:extLst>
      <p:ext uri="{BB962C8B-B14F-4D97-AF65-F5344CB8AC3E}">
        <p14:creationId xmlns:p14="http://schemas.microsoft.com/office/powerpoint/2010/main" val="28238365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HeaderBar"/>
          <p:cNvSpPr>
            <a:spLocks noGrp="1"/>
          </p:cNvSpPr>
          <p:nvPr/>
        </p:nvSpPr>
        <p:spPr>
          <a:xfrm>
            <a:off x="0" y="0"/>
            <a:ext cx="9144000" cy="762000"/>
          </a:xfrm>
          <a:prstGeom prst="rect">
            <a:avLst/>
          </a:prstGeom>
          <a:solidFill>
            <a:srgbClr val="065A82"/>
          </a:solidFill>
          <a:ln>
            <a:noFill/>
          </a:ln>
        </p:spPr>
        <p:txBody>
          <a:bodyPr/>
          <a:lstStyle/>
          <a:p>
            <a:endParaRPr/>
          </a:p>
        </p:txBody>
      </p:sp>
      <p:sp>
        <p:nvSpPr>
          <p:cNvPr id="2" name="Titre"/>
          <p:cNvSpPr>
            <a:spLocks noGrp="1"/>
          </p:cNvSpPr>
          <p:nvPr/>
        </p:nvSpPr>
        <p:spPr>
          <a:xfrm>
            <a:off x="457200" y="0"/>
            <a:ext cx="8229600" cy="762000"/>
          </a:xfrm>
          <a:prstGeom prst="rect">
            <a:avLst/>
          </a:prstGeom>
          <a:noFill/>
          <a:ln>
            <a:noFill/>
          </a:ln>
        </p:spPr>
        <p:txBody>
          <a:bodyPr anchor="ctr"/>
          <a:lstStyle/>
          <a:p>
            <a:r>
              <a:rPr lang="fr-FR" sz="2800" b="1" dirty="0">
                <a:solidFill>
                  <a:srgbClr val="FFFFFF"/>
                </a:solidFill>
                <a:latin typeface="Trebuchet MS"/>
              </a:rPr>
              <a:t>Exemples de données — Situations particulières</a:t>
            </a:r>
          </a:p>
        </p:txBody>
      </p:sp>
      <p:sp>
        <p:nvSpPr>
          <p:cNvPr id="30" name="InfoCard"/>
          <p:cNvSpPr>
            <a:spLocks noGrp="1"/>
          </p:cNvSpPr>
          <p:nvPr/>
        </p:nvSpPr>
        <p:spPr>
          <a:xfrm>
            <a:off x="457200" y="1066800"/>
            <a:ext cx="8229600" cy="762000"/>
          </a:xfrm>
          <a:prstGeom prst="roundRect">
            <a:avLst>
              <a:gd name="adj" fmla="val 10000"/>
            </a:avLst>
          </a:prstGeom>
          <a:solidFill>
            <a:srgbClr val="F0F7FF"/>
          </a:solidFill>
          <a:ln w="19050">
            <a:solidFill>
              <a:srgbClr val="065A82"/>
            </a:solidFill>
          </a:ln>
        </p:spPr>
        <p:txBody>
          <a:bodyPr lIns="228600" rIns="228600" anchor="ctr"/>
          <a:lstStyle/>
          <a:p>
            <a:r>
              <a:rPr lang="fr-FR" sz="1600" dirty="0">
                <a:solidFill>
                  <a:srgbClr val="065A82"/>
                </a:solidFill>
                <a:latin typeface="Trebuchet MS"/>
              </a:rPr>
              <a:t>⚠️  Aucune donnée de population 65+ disponible pour les 17 dernières communes du fichier « age-insee-2020.xlxs »</a:t>
            </a:r>
          </a:p>
        </p:txBody>
      </p:sp>
      <p:sp>
        <p:nvSpPr>
          <p:cNvPr id="3" name="InfoCard">
            <a:extLst>
              <a:ext uri="{FF2B5EF4-FFF2-40B4-BE49-F238E27FC236}">
                <a16:creationId xmlns:a16="http://schemas.microsoft.com/office/drawing/2014/main" id="{EE3593A2-226E-CB9F-CA1E-174A67F4EFC1}"/>
              </a:ext>
            </a:extLst>
          </p:cNvPr>
          <p:cNvSpPr>
            <a:spLocks noGrp="1"/>
          </p:cNvSpPr>
          <p:nvPr/>
        </p:nvSpPr>
        <p:spPr>
          <a:xfrm>
            <a:off x="457200" y="1941576"/>
            <a:ext cx="8229600" cy="865632"/>
          </a:xfrm>
          <a:prstGeom prst="roundRect">
            <a:avLst>
              <a:gd name="adj" fmla="val 10000"/>
            </a:avLst>
          </a:prstGeom>
          <a:solidFill>
            <a:srgbClr val="F0F7FF"/>
          </a:solidFill>
          <a:ln w="19050">
            <a:solidFill>
              <a:srgbClr val="065A82"/>
            </a:solidFill>
          </a:ln>
        </p:spPr>
        <p:txBody>
          <a:bodyPr lIns="228600" rIns="228600" anchor="ctr"/>
          <a:lstStyle/>
          <a:p>
            <a:r>
              <a:rPr lang="fr-FR" sz="1600" dirty="0">
                <a:solidFill>
                  <a:srgbClr val="065A82"/>
                </a:solidFill>
                <a:latin typeface="Trebuchet MS"/>
              </a:rPr>
              <a:t>⚠️  Certaines commune de « age-insee-2020.xlxs » possèdent des EPCI égale à « ZZZZZZZZZ » ce qui peut devenir problématique car on ne peut pas faire de jointure à ce niveau</a:t>
            </a:r>
          </a:p>
        </p:txBody>
      </p:sp>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C2FA9CFC59BEE4C808E8A7EC7786DF4" ma:contentTypeVersion="5" ma:contentTypeDescription="Crée un document." ma:contentTypeScope="" ma:versionID="51f100069d6b0785e43647d7ccf26c68">
  <xsd:schema xmlns:xsd="http://www.w3.org/2001/XMLSchema" xmlns:xs="http://www.w3.org/2001/XMLSchema" xmlns:p="http://schemas.microsoft.com/office/2006/metadata/properties" xmlns:ns3="a52f57f2-e734-4627-95df-5343de9975ec" targetNamespace="http://schemas.microsoft.com/office/2006/metadata/properties" ma:root="true" ma:fieldsID="4ad4403c10857f5787a8f21f372a6c91" ns3:_="">
    <xsd:import namespace="a52f57f2-e734-4627-95df-5343de9975ec"/>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2f57f2-e734-4627-95df-5343de9975e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9967508-4AF0-42CC-A361-613486D06D24}">
  <ds:schemaRefs>
    <ds:schemaRef ds:uri="http://schemas.microsoft.com/sharepoint/v3/contenttype/forms"/>
  </ds:schemaRefs>
</ds:datastoreItem>
</file>

<file path=customXml/itemProps2.xml><?xml version="1.0" encoding="utf-8"?>
<ds:datastoreItem xmlns:ds="http://schemas.openxmlformats.org/officeDocument/2006/customXml" ds:itemID="{67980FC5-1080-4C88-B246-460ECD0996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52f57f2-e734-4627-95df-5343de9975e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A2A77FD-E83A-49F3-AA24-2DF68F24FFFF}">
  <ds:schemaRef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a52f57f2-e734-4627-95df-5343de9975ec"/>
    <ds:schemaRef ds:uri="http://purl.org/dc/term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339</TotalTime>
  <Words>452</Words>
  <Application>Microsoft Office PowerPoint</Application>
  <PresentationFormat>Grand écran</PresentationFormat>
  <Paragraphs>45</Paragraphs>
  <Slides>14</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14</vt:i4>
      </vt:variant>
    </vt:vector>
  </HeadingPairs>
  <TitlesOfParts>
    <vt:vector size="19" baseType="lpstr">
      <vt:lpstr>Aptos</vt:lpstr>
      <vt:lpstr>Aptos Display</vt:lpstr>
      <vt:lpstr>Arial</vt:lpstr>
      <vt:lpstr>Trebuchet MS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Page 1</vt:lpstr>
      <vt:lpstr>Page 2</vt:lpstr>
      <vt:lpstr>Page 3</vt:lpstr>
      <vt:lpstr>Présentation PowerPoint</vt:lpstr>
      <vt:lpstr>Chargement des taches</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Delin Matteo</dc:creator>
  <cp:lastModifiedBy>Delin Matteo</cp:lastModifiedBy>
  <cp:revision>12</cp:revision>
  <dcterms:created xsi:type="dcterms:W3CDTF">2026-04-23T12:31:24Z</dcterms:created>
  <dcterms:modified xsi:type="dcterms:W3CDTF">2026-04-24T10:33:35Z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0x0101002C2FA9CFC59BEE4C808E8A7EC7786DF4</vt:lpwstr>
  </property>
</Properties>
</file>