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8" r:id="rId2"/>
    <p:sldId id="259" r:id="rId3"/>
    <p:sldId id="262" r:id="rId4"/>
    <p:sldId id="264" r:id="rId5"/>
    <p:sldId id="265" r:id="rId6"/>
    <p:sldId id="266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112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457200"/>
            <a:ext cx="5029200" cy="5029200"/>
          </a:xfrm>
          <a:prstGeom prst="ellipse">
            <a:avLst/>
          </a:prstGeom>
          <a:solidFill>
            <a:srgbClr val="1D6FA4">
              <a:alpha val="12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Enjeux métiers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B9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 professionnelle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0" y="4297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8BA3BA"/>
                </a:solidFill>
              </a:rPr>
              <a:t>01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Enjeux métiers principaux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09728" cy="17190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18872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territoriale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zones géographiques présentant un indice de saturation élevé — nombre de lits disponibles rapporté à la population dépendante locale (80+).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97280"/>
            <a:ext cx="109728" cy="171907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2070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32120" y="118872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de tension offre / demande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6916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les zones où l'offre est insuffisante face à la demande croissante, notamment dans les territoires à forte proportion de seniors 65-79 ans (résidents potentiels à moyen terme).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17520"/>
            <a:ext cx="109728" cy="1719072"/>
          </a:xfrm>
          <a:prstGeom prst="rect">
            <a:avLst/>
          </a:prstGeom>
          <a:solidFill>
            <a:srgbClr val="3B9ECE"/>
          </a:solidFill>
          <a:ln w="12700">
            <a:solidFill>
              <a:srgbClr val="3B9E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272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9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10896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des groupes privés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61188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la part de marché et le positionnement stratégique des principaux groupes nationaux (Korian, Orpéa, DomusVi, Le Noble Age…) par département et région.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301752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017520"/>
            <a:ext cx="109728" cy="1719072"/>
          </a:xfrm>
          <a:prstGeom prst="rect">
            <a:avLst/>
          </a:prstGeom>
          <a:solidFill>
            <a:srgbClr val="27A66C"/>
          </a:solidFill>
          <a:ln w="12700">
            <a:solidFill>
              <a:srgbClr val="27A6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1272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310896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d'établissement adapté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361188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Recommander le type d'établissement optimal (Public, Privé commercial, Associatif) selon le profil socio-économique des retraités de la zone (revenus IRCOM 2021).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B9ECE"/>
          </a:solidFill>
          <a:ln w="12700">
            <a:solidFill>
              <a:srgbClr val="3B9E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457200"/>
            <a:ext cx="5029200" cy="5029200"/>
          </a:xfrm>
          <a:prstGeom prst="ellipse">
            <a:avLst/>
          </a:prstGeom>
          <a:solidFill>
            <a:srgbClr val="3B9ECE">
              <a:alpha val="10000"/>
            </a:srgbClr>
          </a:solidFill>
          <a:ln w="12700">
            <a:solidFill>
              <a:srgbClr val="3B9E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l'application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B9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Power BI — 3 pages d'analyse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0" y="4297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3600" b="1" dirty="0">
              <a:solidFill>
                <a:srgbClr val="8BA3B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3B9ECE"/>
          </a:solidFill>
          <a:ln w="12700">
            <a:solidFill>
              <a:srgbClr val="3B9E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Carte de saturation territoriale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2011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9ECE"/>
                </a:solidFill>
              </a:rPr>
              <a:t>MAQUETTE POWER BI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7 402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A"/>
                </a:solidFill>
              </a:rPr>
              <a:t>Établissements EHPAD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078992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664 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A"/>
                </a:solidFill>
              </a:rPr>
              <a:t>Lits EHPAD France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078992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A"/>
                </a:solidFill>
              </a:rPr>
              <a:t>Résidents potentiels 80+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1078992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A"/>
                </a:solidFill>
              </a:rPr>
              <a:t>Taux d'occupation moyen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2103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🗺  Carte choroplèthe — Indice de saturation par département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833872" y="2029968"/>
            <a:ext cx="2944368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5943600" y="21031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Top 5 — Depts sous tension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943600" y="2523744"/>
            <a:ext cx="2743200" cy="347472"/>
          </a:xfrm>
          <a:prstGeom prst="rect">
            <a:avLst/>
          </a:prstGeom>
          <a:solidFill>
            <a:srgbClr val="F4F7FA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16752" y="25694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</a:rPr>
              <a:t>1. Var (83)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772400" y="2596896"/>
            <a:ext cx="640080" cy="201168"/>
          </a:xfrm>
          <a:prstGeom prst="rect">
            <a:avLst/>
          </a:prstGeom>
          <a:solidFill>
            <a:srgbClr val="C0392B">
              <a:alpha val="8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72400" y="257860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94%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943600" y="2962656"/>
            <a:ext cx="2743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016752" y="3008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</a:rPr>
              <a:t>2. Alpes-Mar. (06)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772400" y="3035808"/>
            <a:ext cx="640080" cy="201168"/>
          </a:xfrm>
          <a:prstGeom prst="rect">
            <a:avLst/>
          </a:prstGeom>
          <a:solidFill>
            <a:srgbClr val="C0392B">
              <a:alpha val="8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72400" y="30175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91%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943600" y="3401568"/>
            <a:ext cx="2743200" cy="347472"/>
          </a:xfrm>
          <a:prstGeom prst="rect">
            <a:avLst/>
          </a:prstGeom>
          <a:solidFill>
            <a:srgbClr val="F4F7FA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16752" y="3447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</a:rPr>
              <a:t>3. Hérault (34)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772400" y="3474720"/>
            <a:ext cx="640080" cy="201168"/>
          </a:xfrm>
          <a:prstGeom prst="rect">
            <a:avLst/>
          </a:prstGeom>
          <a:solidFill>
            <a:srgbClr val="C0392B">
              <a:alpha val="8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772400" y="34564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89%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943600" y="3840480"/>
            <a:ext cx="2743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16752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</a:rPr>
              <a:t>4. Pyrénées-Or. (66)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772400" y="3913632"/>
            <a:ext cx="640080" cy="201168"/>
          </a:xfrm>
          <a:prstGeom prst="rect">
            <a:avLst/>
          </a:prstGeom>
          <a:solidFill>
            <a:srgbClr val="F0A500">
              <a:alpha val="8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772400" y="38953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A500"/>
                </a:solidFill>
              </a:rPr>
              <a:t>87%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5943600" y="4279392"/>
            <a:ext cx="2743200" cy="347472"/>
          </a:xfrm>
          <a:prstGeom prst="rect">
            <a:avLst/>
          </a:prstGeom>
          <a:solidFill>
            <a:srgbClr val="F4F7FA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016752" y="4325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</a:rPr>
              <a:t>5. Gard (30)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772400" y="4352544"/>
            <a:ext cx="640080" cy="201168"/>
          </a:xfrm>
          <a:prstGeom prst="rect">
            <a:avLst/>
          </a:prstGeom>
          <a:solidFill>
            <a:srgbClr val="F0A500">
              <a:alpha val="8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772400" y="433425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A500"/>
                </a:solidFill>
              </a:rPr>
              <a:t>83%</a:t>
            </a:r>
            <a:endParaRPr lang="en-US" sz="1000" dirty="0"/>
          </a:p>
        </p:txBody>
      </p:sp>
      <p:pic>
        <p:nvPicPr>
          <p:cNvPr id="83" name="Image 82">
            <a:extLst>
              <a:ext uri="{FF2B5EF4-FFF2-40B4-BE49-F238E27FC236}">
                <a16:creationId xmlns:a16="http://schemas.microsoft.com/office/drawing/2014/main" id="{E1655585-F74A-734D-21C1-7B1BB6A47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1" y="2468724"/>
            <a:ext cx="3661646" cy="23275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E05010"/>
          </a:solidFill>
          <a:ln w="12700">
            <a:solidFill>
              <a:srgbClr val="E05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Analyse concurrentielle par groupe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2011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DE8F2"/>
                </a:solidFill>
              </a:rPr>
              <a:t>MAQUETTE POWER BI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A"/>
                </a:solidFill>
              </a:rPr>
              <a:t>Groupes nationaux analysés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078992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A"/>
                </a:solidFill>
              </a:rPr>
              <a:t>Lits privés commerciaux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078992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1 850€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A"/>
                </a:solidFill>
              </a:rPr>
              <a:t>Prix médian chambre simple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1078992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3.2x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A"/>
                </a:solidFill>
              </a:rPr>
              <a:t>Écart max prix (privé/public)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029968"/>
            <a:ext cx="530352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103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Capacité totale (lits) par groupe national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542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Korian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08760" y="2560320"/>
            <a:ext cx="3538728" cy="146304"/>
          </a:xfrm>
          <a:prstGeom prst="rect">
            <a:avLst/>
          </a:prstGeom>
          <a:solidFill>
            <a:srgbClr val="1D6FA4">
              <a:alpha val="85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47488" y="2560320"/>
            <a:ext cx="393192" cy="146304"/>
          </a:xfrm>
          <a:prstGeom prst="rect">
            <a:avLst/>
          </a:prstGeom>
          <a:solidFill>
            <a:srgbClr val="F4F7FA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7797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Orpéa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508760" y="2798064"/>
            <a:ext cx="3066898" cy="146304"/>
          </a:xfrm>
          <a:prstGeom prst="rect">
            <a:avLst/>
          </a:prstGeom>
          <a:solidFill>
            <a:srgbClr val="E07B2A">
              <a:alpha val="85000"/>
            </a:srgbClr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5658" y="2798064"/>
            <a:ext cx="865022" cy="146304"/>
          </a:xfrm>
          <a:prstGeom prst="rect">
            <a:avLst/>
          </a:prstGeom>
          <a:solidFill>
            <a:srgbClr val="F4F7FA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017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DomusVi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08760" y="3035808"/>
            <a:ext cx="2162556" cy="146304"/>
          </a:xfrm>
          <a:prstGeom prst="rect">
            <a:avLst/>
          </a:prstGeom>
          <a:solidFill>
            <a:srgbClr val="3B9ECE">
              <a:alpha val="85000"/>
            </a:srgbClr>
          </a:solidFill>
          <a:ln w="12700">
            <a:solidFill>
              <a:srgbClr val="3B9EC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71316" y="3035808"/>
            <a:ext cx="1769364" cy="146304"/>
          </a:xfrm>
          <a:prstGeom prst="rect">
            <a:avLst/>
          </a:prstGeom>
          <a:solidFill>
            <a:srgbClr val="F4F7FA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2552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Le Noble Age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508760" y="3273552"/>
            <a:ext cx="1494130" cy="146304"/>
          </a:xfrm>
          <a:prstGeom prst="rect">
            <a:avLst/>
          </a:prstGeom>
          <a:solidFill>
            <a:srgbClr val="27A66C">
              <a:alpha val="85000"/>
            </a:srgbClr>
          </a:solidFill>
          <a:ln w="12700">
            <a:solidFill>
              <a:srgbClr val="27A66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02890" y="3273552"/>
            <a:ext cx="2437790" cy="146304"/>
          </a:xfrm>
          <a:prstGeom prst="rect">
            <a:avLst/>
          </a:prstGeom>
          <a:solidFill>
            <a:srgbClr val="F4F7FA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4930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Colisée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508760" y="3511296"/>
            <a:ext cx="1258214" cy="146304"/>
          </a:xfrm>
          <a:prstGeom prst="rect">
            <a:avLst/>
          </a:prstGeom>
          <a:solidFill>
            <a:srgbClr val="F0A500">
              <a:alpha val="8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66974" y="3511296"/>
            <a:ext cx="2673706" cy="146304"/>
          </a:xfrm>
          <a:prstGeom prst="rect">
            <a:avLst/>
          </a:prstGeom>
          <a:solidFill>
            <a:srgbClr val="F4F7FA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7307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Domidep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508760" y="3749040"/>
            <a:ext cx="1100938" cy="146304"/>
          </a:xfrm>
          <a:prstGeom prst="rect">
            <a:avLst/>
          </a:prstGeom>
          <a:solidFill>
            <a:srgbClr val="C0392B">
              <a:alpha val="8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09698" y="3749040"/>
            <a:ext cx="2830982" cy="146304"/>
          </a:xfrm>
          <a:prstGeom prst="rect">
            <a:avLst/>
          </a:prstGeom>
          <a:solidFill>
            <a:srgbClr val="F4F7FA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9684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Emera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508760" y="3986784"/>
            <a:ext cx="786384" cy="146304"/>
          </a:xfrm>
          <a:prstGeom prst="rect">
            <a:avLst/>
          </a:prstGeom>
          <a:solidFill>
            <a:srgbClr val="8BA3BA">
              <a:alpha val="85000"/>
            </a:srgbClr>
          </a:solidFill>
          <a:ln w="12700">
            <a:solidFill>
              <a:srgbClr val="8BA3B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95144" y="3986784"/>
            <a:ext cx="3145536" cy="146304"/>
          </a:xfrm>
          <a:prstGeom prst="rect">
            <a:avLst/>
          </a:prstGeom>
          <a:solidFill>
            <a:srgbClr val="F4F7FA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206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Dolcéa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508760" y="4224528"/>
            <a:ext cx="589788" cy="146304"/>
          </a:xfrm>
          <a:prstGeom prst="rect">
            <a:avLst/>
          </a:prstGeom>
          <a:solidFill>
            <a:srgbClr val="1A2E4A">
              <a:alpha val="85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98548" y="4224528"/>
            <a:ext cx="3342132" cy="146304"/>
          </a:xfrm>
          <a:prstGeom prst="rect">
            <a:avLst/>
          </a:prstGeom>
          <a:solidFill>
            <a:srgbClr val="F4F7FA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33872" y="2029968"/>
            <a:ext cx="2944368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943600" y="21031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Répartition par statut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63640" y="2432304"/>
            <a:ext cx="1737360" cy="1481328"/>
          </a:xfrm>
          <a:prstGeom prst="ellipse">
            <a:avLst/>
          </a:prstGeom>
          <a:solidFill>
            <a:srgbClr val="1D6FA4">
              <a:alpha val="8000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92240" y="2660904"/>
            <a:ext cx="1280160" cy="10607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290779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6FA4"/>
                </a:solidFill>
              </a:rPr>
              <a:t>42%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D6FA4"/>
                </a:solidFill>
              </a:rPr>
              <a:t>Privé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989320" y="4041648"/>
            <a:ext cx="164592" cy="146304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40050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</a:rPr>
              <a:t>Privé commercial  42%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989320" y="4297680"/>
            <a:ext cx="164592" cy="146304"/>
          </a:xfrm>
          <a:prstGeom prst="rect">
            <a:avLst/>
          </a:prstGeom>
          <a:solidFill>
            <a:srgbClr val="27A66C"/>
          </a:solidFill>
          <a:ln w="12700">
            <a:solidFill>
              <a:srgbClr val="27A66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42611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</a:rPr>
              <a:t>Associatif          35%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989320" y="4553712"/>
            <a:ext cx="164592" cy="146304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45171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</a:rPr>
              <a:t>Public              23%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7A66C"/>
          </a:solidFill>
          <a:ln w="12700">
            <a:solidFill>
              <a:srgbClr val="27A6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1D8058"/>
          </a:solidFill>
          <a:ln w="12700">
            <a:solidFill>
              <a:srgbClr val="1D80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Profil socio-économique &amp; recommandations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0" y="2011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DE8F2"/>
                </a:solidFill>
              </a:rPr>
              <a:t>MAQUETTE POWER BI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9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A"/>
                </a:solidFill>
              </a:rPr>
              <a:t>Résidents potentiels 65-79 (MT)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078992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A"/>
                </a:solidFill>
              </a:rPr>
              <a:t>Résidents potentiels 80+ (CT)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078992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K€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A"/>
                </a:solidFill>
              </a:rPr>
              <a:t>Revenu médian retraités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1078992"/>
            <a:ext cx="1920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A"/>
                </a:solidFill>
              </a:rPr>
              <a:t>Communes ≥ 1 EHPAD local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1168" y="2029968"/>
            <a:ext cx="5193792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1031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Revenu médian retraités vs. prix hébergement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498848"/>
            <a:ext cx="4572000" cy="0"/>
          </a:xfrm>
          <a:prstGeom prst="line">
            <a:avLst/>
          </a:prstGeom>
          <a:noFill/>
          <a:ln w="12700">
            <a:solidFill>
              <a:srgbClr val="8BA3B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2514600"/>
            <a:ext cx="0" cy="1993392"/>
          </a:xfrm>
          <a:prstGeom prst="line">
            <a:avLst/>
          </a:prstGeom>
          <a:noFill/>
          <a:ln w="12700">
            <a:solidFill>
              <a:srgbClr val="8BA3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5537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A"/>
                </a:solidFill>
              </a:rPr>
              <a:t>Revenu moyen 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3108960"/>
            <a:ext cx="320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BA"/>
                </a:solidFill>
              </a:rPr>
              <a:t>Prix hébergement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481328" y="3290011"/>
            <a:ext cx="164592" cy="137160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10512" y="3092501"/>
            <a:ext cx="164592" cy="137160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57400" y="3553358"/>
            <a:ext cx="164592" cy="137160"/>
          </a:xfrm>
          <a:prstGeom prst="ellipse">
            <a:avLst/>
          </a:prstGeom>
          <a:solidFill>
            <a:srgbClr val="E07B2A">
              <a:alpha val="80000"/>
            </a:srgbClr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2894990"/>
            <a:ext cx="164592" cy="137160"/>
          </a:xfrm>
          <a:prstGeom prst="ellipse">
            <a:avLst/>
          </a:prstGeom>
          <a:solidFill>
            <a:srgbClr val="E07B2A">
              <a:alpha val="80000"/>
            </a:srgbClr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98064" y="3355848"/>
            <a:ext cx="164592" cy="137160"/>
          </a:xfrm>
          <a:prstGeom prst="ellipse">
            <a:avLst/>
          </a:prstGeom>
          <a:solidFill>
            <a:srgbClr val="27A66C">
              <a:alpha val="80000"/>
            </a:srgbClr>
          </a:solidFill>
          <a:ln w="12700">
            <a:solidFill>
              <a:srgbClr val="27A66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27248" y="3026664"/>
            <a:ext cx="164592" cy="137160"/>
          </a:xfrm>
          <a:prstGeom prst="ellipse">
            <a:avLst/>
          </a:prstGeom>
          <a:solidFill>
            <a:srgbClr val="E07B2A">
              <a:alpha val="80000"/>
            </a:srgbClr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56432" y="2697480"/>
            <a:ext cx="164592" cy="137160"/>
          </a:xfrm>
          <a:prstGeom prst="ellipse">
            <a:avLst/>
          </a:prstGeom>
          <a:solidFill>
            <a:srgbClr val="27A66C">
              <a:alpha val="80000"/>
            </a:srgbClr>
          </a:solidFill>
          <a:ln w="12700">
            <a:solidFill>
              <a:srgbClr val="27A66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85616" y="3158338"/>
            <a:ext cx="164592" cy="137160"/>
          </a:xfrm>
          <a:prstGeom prst="ellipse">
            <a:avLst/>
          </a:prstGeom>
          <a:solidFill>
            <a:srgbClr val="27A66C">
              <a:alpha val="80000"/>
            </a:srgbClr>
          </a:solidFill>
          <a:ln w="12700">
            <a:solidFill>
              <a:srgbClr val="27A66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2829154"/>
            <a:ext cx="164592" cy="137160"/>
          </a:xfrm>
          <a:prstGeom prst="ellipse">
            <a:avLst/>
          </a:prstGeom>
          <a:solidFill>
            <a:srgbClr val="1D6FA4">
              <a:alpha val="8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43984" y="2499970"/>
            <a:ext cx="164592" cy="137160"/>
          </a:xfrm>
          <a:prstGeom prst="ellipse">
            <a:avLst/>
          </a:prstGeom>
          <a:solidFill>
            <a:srgbClr val="1D6FA4">
              <a:alpha val="8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04288" y="3816706"/>
            <a:ext cx="164592" cy="137160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1840" y="3685032"/>
            <a:ext cx="164592" cy="137160"/>
          </a:xfrm>
          <a:prstGeom prst="ellipse">
            <a:avLst/>
          </a:prstGeom>
          <a:solidFill>
            <a:srgbClr val="F0A500">
              <a:alpha val="8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34440" y="3948379"/>
            <a:ext cx="164592" cy="137160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73168" y="2368296"/>
            <a:ext cx="164592" cy="137160"/>
          </a:xfrm>
          <a:prstGeom prst="ellipse">
            <a:avLst/>
          </a:prstGeom>
          <a:solidFill>
            <a:srgbClr val="1D6FA4">
              <a:alpha val="8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8680" y="4206240"/>
            <a:ext cx="4206240" cy="0"/>
          </a:xfrm>
          <a:prstGeom prst="line">
            <a:avLst/>
          </a:prstGeom>
          <a:noFill/>
          <a:ln w="12700">
            <a:solidFill>
              <a:srgbClr val="1A2E4A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5559552" y="2029968"/>
            <a:ext cx="3218688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669280" y="21031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Recommandation modèle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0" y="2578608"/>
            <a:ext cx="2971800" cy="658368"/>
          </a:xfrm>
          <a:prstGeom prst="rect">
            <a:avLst/>
          </a:prstGeom>
          <a:solidFill>
            <a:srgbClr val="F4F7FA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0" y="2578608"/>
            <a:ext cx="91440" cy="65836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33872" y="26517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</a:rPr>
              <a:t>Revenu élevé (&gt;35K€)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33872" y="2926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6FA4"/>
                </a:solidFill>
              </a:rPr>
              <a:t>→ Privé commercial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69280" y="3328416"/>
            <a:ext cx="2971800" cy="658368"/>
          </a:xfrm>
          <a:prstGeom prst="rect">
            <a:avLst/>
          </a:prstGeom>
          <a:solidFill>
            <a:srgbClr val="F4F7FA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69280" y="3328416"/>
            <a:ext cx="91440" cy="658368"/>
          </a:xfrm>
          <a:prstGeom prst="rect">
            <a:avLst/>
          </a:prstGeom>
          <a:solidFill>
            <a:srgbClr val="27A66C"/>
          </a:solidFill>
          <a:ln w="12700">
            <a:solidFill>
              <a:srgbClr val="27A66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33872" y="34015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</a:rPr>
              <a:t>Revenu moyen (20-35K€)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33872" y="36758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66C"/>
                </a:solidFill>
              </a:rPr>
              <a:t>→ Associatif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69280" y="4078224"/>
            <a:ext cx="2971800" cy="658368"/>
          </a:xfrm>
          <a:prstGeom prst="rect">
            <a:avLst/>
          </a:prstGeom>
          <a:solidFill>
            <a:srgbClr val="F4F7FA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280" y="4078224"/>
            <a:ext cx="91440" cy="65836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33872" y="41513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</a:rPr>
              <a:t>Revenu faible (&lt;20K€)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833872" y="44256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7B2A"/>
                </a:solidFill>
              </a:rPr>
              <a:t>→ Public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388</Words>
  <Application>Microsoft Office PowerPoint</Application>
  <PresentationFormat>Affichage à l'écran (16:9)</PresentationFormat>
  <Paragraphs>92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SAÉ 4.VCOD.01 – Jalon 2</dc:title>
  <dc:subject>PptxGenJS Presentation</dc:subject>
  <dc:creator>Guedj · Delin · Maurin · Zavagno</dc:creator>
  <cp:lastModifiedBy>Zavagno Quentin</cp:lastModifiedBy>
  <cp:revision>3</cp:revision>
  <dcterms:created xsi:type="dcterms:W3CDTF">2026-04-24T11:39:12Z</dcterms:created>
  <dcterms:modified xsi:type="dcterms:W3CDTF">2026-04-24T12:23:19Z</dcterms:modified>
</cp:coreProperties>
</file>